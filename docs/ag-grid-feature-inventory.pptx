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2f6c2fc8a34d51" /><Relationship Type="http://schemas.openxmlformats.org/officeDocument/2006/relationships/extended-properties" Target="/docProps/app.xml" Id="Rc1929891ee104b92" /><Relationship Type="http://schemas.openxmlformats.org/officeDocument/2006/relationships/officeDocument" Target="/ppt/presentation.xml" Id="R34514b1412d84d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f517cf1b834edb"/>
  </p:sldMasterIdLst>
  <p:notesMasterIdLst>
    <p:notesMasterId xmlns:r="http://schemas.openxmlformats.org/officeDocument/2006/relationships" r:id="Rc9a4b45d8b43410c"/>
  </p:notesMasterIdLst>
  <p:sldIdLst>
    <p:sldId xmlns:r="http://schemas.openxmlformats.org/officeDocument/2006/relationships" id="256" r:id="R7d8f3fe1accc49ae"/>
    <p:sldId xmlns:r="http://schemas.openxmlformats.org/officeDocument/2006/relationships" id="257" r:id="R9577f5266d624353"/>
    <p:sldId xmlns:r="http://schemas.openxmlformats.org/officeDocument/2006/relationships" id="258" r:id="R7e6eeed1adf2449c"/>
    <p:sldId xmlns:r="http://schemas.openxmlformats.org/officeDocument/2006/relationships" id="259" r:id="R2fba987876f24ba4"/>
    <p:sldId xmlns:r="http://schemas.openxmlformats.org/officeDocument/2006/relationships" id="260" r:id="Re5b97b507b4e49ee"/>
    <p:sldId xmlns:r="http://schemas.openxmlformats.org/officeDocument/2006/relationships" id="261" r:id="R344dda3ddca244e2"/>
    <p:sldId xmlns:r="http://schemas.openxmlformats.org/officeDocument/2006/relationships" id="262" r:id="R3c05598f0e9245fb"/>
    <p:sldId xmlns:r="http://schemas.openxmlformats.org/officeDocument/2006/relationships" id="263" r:id="R2803b100f11b421c"/>
    <p:sldId xmlns:r="http://schemas.openxmlformats.org/officeDocument/2006/relationships" id="264" r:id="Rc762b9ef52f04d7f"/>
    <p:sldId xmlns:r="http://schemas.openxmlformats.org/officeDocument/2006/relationships" id="265" r:id="R84a937c70e5d4c44"/>
    <p:sldId xmlns:r="http://schemas.openxmlformats.org/officeDocument/2006/relationships" id="266" r:id="R02f2440c63354369"/>
    <p:sldId xmlns:r="http://schemas.openxmlformats.org/officeDocument/2006/relationships" id="267" r:id="R0f431edb38b649bb"/>
    <p:sldId xmlns:r="http://schemas.openxmlformats.org/officeDocument/2006/relationships" id="268" r:id="Rac2ca1fc70b44f58"/>
    <p:sldId xmlns:r="http://schemas.openxmlformats.org/officeDocument/2006/relationships" id="269" r:id="Rda2f39c7ce6f416f"/>
    <p:sldId xmlns:r="http://schemas.openxmlformats.org/officeDocument/2006/relationships" id="270" r:id="R5ed87f0597074a70"/>
    <p:sldId xmlns:r="http://schemas.openxmlformats.org/officeDocument/2006/relationships" id="271" r:id="R363432498dbe41f4"/>
    <p:sldId xmlns:r="http://schemas.openxmlformats.org/officeDocument/2006/relationships" id="272" r:id="R332f5cde293f4f3b"/>
    <p:sldId xmlns:r="http://schemas.openxmlformats.org/officeDocument/2006/relationships" id="273" r:id="R872ea993d9b148c0"/>
    <p:sldId xmlns:r="http://schemas.openxmlformats.org/officeDocument/2006/relationships" id="274" r:id="Rea50685311c149c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351958fcad4743" /><Relationship Type="http://schemas.openxmlformats.org/officeDocument/2006/relationships/slideMaster" Target="/ppt/slideMasters/slideMaster1.xml" Id="Rd2f517cf1b834edb" /><Relationship Type="http://schemas.openxmlformats.org/officeDocument/2006/relationships/notesMaster" Target="/ppt/notesMasters/notesMaster1.xml" Id="Rc9a4b45d8b43410c" /><Relationship Type="http://schemas.openxmlformats.org/officeDocument/2006/relationships/presProps" Target="/ppt/presProps.xml" Id="R6713541e758849c9" /><Relationship Type="http://schemas.openxmlformats.org/officeDocument/2006/relationships/tableStyles" Target="/ppt/tableStyles.xml" Id="R7f18b3b2034e4f49" /><Relationship Type="http://schemas.openxmlformats.org/officeDocument/2006/relationships/slide" Target="/ppt/slides/slide1.xml" Id="R7d8f3fe1accc49ae" /><Relationship Type="http://schemas.openxmlformats.org/officeDocument/2006/relationships/slide" Target="/ppt/slides/slide2.xml" Id="R9577f5266d624353" /><Relationship Type="http://schemas.openxmlformats.org/officeDocument/2006/relationships/slide" Target="/ppt/slides/slide3.xml" Id="R7e6eeed1adf2449c" /><Relationship Type="http://schemas.openxmlformats.org/officeDocument/2006/relationships/slide" Target="/ppt/slides/slide4.xml" Id="R2fba987876f24ba4" /><Relationship Type="http://schemas.openxmlformats.org/officeDocument/2006/relationships/slide" Target="/ppt/slides/slide5.xml" Id="Re5b97b507b4e49ee" /><Relationship Type="http://schemas.openxmlformats.org/officeDocument/2006/relationships/slide" Target="/ppt/slides/slide6.xml" Id="R344dda3ddca244e2" /><Relationship Type="http://schemas.openxmlformats.org/officeDocument/2006/relationships/slide" Target="/ppt/slides/slide7.xml" Id="R3c05598f0e9245fb" /><Relationship Type="http://schemas.openxmlformats.org/officeDocument/2006/relationships/slide" Target="/ppt/slides/slide8.xml" Id="R2803b100f11b421c" /><Relationship Type="http://schemas.openxmlformats.org/officeDocument/2006/relationships/slide" Target="/ppt/slides/slide9.xml" Id="Rc762b9ef52f04d7f" /><Relationship Type="http://schemas.openxmlformats.org/officeDocument/2006/relationships/slide" Target="/ppt/slides/slide10.xml" Id="R84a937c70e5d4c44" /><Relationship Type="http://schemas.openxmlformats.org/officeDocument/2006/relationships/slide" Target="/ppt/slides/slide11.xml" Id="R02f2440c63354369" /><Relationship Type="http://schemas.openxmlformats.org/officeDocument/2006/relationships/slide" Target="/ppt/slides/slide12.xml" Id="R0f431edb38b649bb" /><Relationship Type="http://schemas.openxmlformats.org/officeDocument/2006/relationships/slide" Target="/ppt/slides/slide13.xml" Id="Rac2ca1fc70b44f58" /><Relationship Type="http://schemas.openxmlformats.org/officeDocument/2006/relationships/slide" Target="/ppt/slides/slide14.xml" Id="Rda2f39c7ce6f416f" /><Relationship Type="http://schemas.openxmlformats.org/officeDocument/2006/relationships/slide" Target="/ppt/slides/slide15.xml" Id="R5ed87f0597074a70" /><Relationship Type="http://schemas.openxmlformats.org/officeDocument/2006/relationships/slide" Target="/ppt/slides/slide16.xml" Id="R363432498dbe41f4" /><Relationship Type="http://schemas.openxmlformats.org/officeDocument/2006/relationships/slide" Target="/ppt/slides/slide17.xml" Id="R332f5cde293f4f3b" /><Relationship Type="http://schemas.openxmlformats.org/officeDocument/2006/relationships/slide" Target="/ppt/slides/slide18.xml" Id="R872ea993d9b148c0" /><Relationship Type="http://schemas.openxmlformats.org/officeDocument/2006/relationships/slide" Target="/ppt/slides/slide19.xml" Id="Rea50685311c149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a092db4a2c49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a95e1d174743fe" /><Relationship Type="http://schemas.openxmlformats.org/officeDocument/2006/relationships/notesMaster" Target="/ppt/notesMasters/notesMaster1.xml" Id="Reb137c0885a542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c629776a3f4a29" /><Relationship Type="http://schemas.openxmlformats.org/officeDocument/2006/relationships/notesMaster" Target="/ppt/notesMasters/notesMaster1.xml" Id="R04990f2130c64f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1989d88aaa4fe5" /><Relationship Type="http://schemas.openxmlformats.org/officeDocument/2006/relationships/notesMaster" Target="/ppt/notesMasters/notesMaster1.xml" Id="Rc5ce26e0010543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6b39bca82548be" /><Relationship Type="http://schemas.openxmlformats.org/officeDocument/2006/relationships/notesMaster" Target="/ppt/notesMasters/notesMaster1.xml" Id="Rd1115cb113774b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a8a934c2a340d3" /><Relationship Type="http://schemas.openxmlformats.org/officeDocument/2006/relationships/notesMaster" Target="/ppt/notesMasters/notesMaster1.xml" Id="Re52172b4c3b941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cbb7f00b444159" /><Relationship Type="http://schemas.openxmlformats.org/officeDocument/2006/relationships/notesMaster" Target="/ppt/notesMasters/notesMaster1.xml" Id="R04b5f509e25141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4d28f4429b40cf" /><Relationship Type="http://schemas.openxmlformats.org/officeDocument/2006/relationships/notesMaster" Target="/ppt/notesMasters/notesMaster1.xml" Id="Rc611925326b742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589ff6b93a449f" /><Relationship Type="http://schemas.openxmlformats.org/officeDocument/2006/relationships/notesMaster" Target="/ppt/notesMasters/notesMaster1.xml" Id="R1d86c473dfef4c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e56c7c79b64617" /><Relationship Type="http://schemas.openxmlformats.org/officeDocument/2006/relationships/notesMaster" Target="/ppt/notesMasters/notesMaster1.xml" Id="Rff01636ebb8347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61ed94c9b64089" /><Relationship Type="http://schemas.openxmlformats.org/officeDocument/2006/relationships/notesMaster" Target="/ppt/notesMasters/notesMaster1.xml" Id="Rfffd46695a7843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64f744dcec4a81" /><Relationship Type="http://schemas.openxmlformats.org/officeDocument/2006/relationships/notesMaster" Target="/ppt/notesMasters/notesMaster1.xml" Id="Rb60575fabf5b4a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95779f23a5443c" /><Relationship Type="http://schemas.openxmlformats.org/officeDocument/2006/relationships/notesMaster" Target="/ppt/notesMasters/notesMaster1.xml" Id="R71f1f788eb97420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98a58c828ca4a58" /><Relationship Type="http://schemas.openxmlformats.org/officeDocument/2006/relationships/notesMaster" Target="/ppt/notesMasters/notesMaster1.xml" Id="Rfe6ab080a12e4af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7fc5e27966c4912" /><Relationship Type="http://schemas.openxmlformats.org/officeDocument/2006/relationships/notesMaster" Target="/ppt/notesMasters/notesMaster1.xml" Id="Rf2ff051a573d42d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841c12aeeba49b6" /><Relationship Type="http://schemas.openxmlformats.org/officeDocument/2006/relationships/notesMaster" Target="/ppt/notesMasters/notesMaster1.xml" Id="R3f2b4c8b8ef044e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99a4171127a4929" /><Relationship Type="http://schemas.openxmlformats.org/officeDocument/2006/relationships/notesMaster" Target="/ppt/notesMasters/notesMaster1.xml" Id="R90d9ae13828049c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ad680b5123f45ef" /><Relationship Type="http://schemas.openxmlformats.org/officeDocument/2006/relationships/notesMaster" Target="/ppt/notesMasters/notesMaster1.xml" Id="R27bb234c64f444c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c14207ed8af4865" /><Relationship Type="http://schemas.openxmlformats.org/officeDocument/2006/relationships/notesMaster" Target="/ppt/notesMasters/notesMaster1.xml" Id="R6d7a675eaff3430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4a8299d114a4890" /><Relationship Type="http://schemas.openxmlformats.org/officeDocument/2006/relationships/notesMaster" Target="/ppt/notesMasters/notesMaster1.xml" Id="Rc499a02a8b074a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5e53865da646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db82a894d54016" /><Relationship Type="http://schemas.openxmlformats.org/officeDocument/2006/relationships/slideLayout" Target="/ppt/slideLayouts/slideLayout1.xml" Id="R216df2e3dceb44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6df2e3dceb44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d5856908a4c83" /><Relationship Type="http://schemas.openxmlformats.org/officeDocument/2006/relationships/notesSlide" Target="/ppt/notesSlides/notesSlide1.xml" Id="R1824d7e7e66145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01125d46c4681" /><Relationship Type="http://schemas.openxmlformats.org/officeDocument/2006/relationships/notesSlide" Target="/ppt/notesSlides/notesSlide2.xml" Id="R57f4120d501d4d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8e0f785354243" /><Relationship Type="http://schemas.openxmlformats.org/officeDocument/2006/relationships/notesSlide" Target="/ppt/notesSlides/notesSlide3.xml" Id="R68635230ca444a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43d745c554038" /><Relationship Type="http://schemas.openxmlformats.org/officeDocument/2006/relationships/notesSlide" Target="/ppt/notesSlides/notesSlide4.xml" Id="Rdbd4184777c546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268b359fd4e6a" /><Relationship Type="http://schemas.openxmlformats.org/officeDocument/2006/relationships/notesSlide" Target="/ppt/notesSlides/notesSlide5.xml" Id="R2a0435d67f984f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28feb820c41c7" /><Relationship Type="http://schemas.openxmlformats.org/officeDocument/2006/relationships/notesSlide" Target="/ppt/notesSlides/notesSlide6.xml" Id="Ra8b4079f80a84d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aa4c64c6df43ee" /><Relationship Type="http://schemas.openxmlformats.org/officeDocument/2006/relationships/notesSlide" Target="/ppt/notesSlides/notesSlide7.xml" Id="R69a767c70f7248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0208a4b4e4572" /><Relationship Type="http://schemas.openxmlformats.org/officeDocument/2006/relationships/notesSlide" Target="/ppt/notesSlides/notesSlide8.xml" Id="R547cc7fa264a48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726d174164630" /><Relationship Type="http://schemas.openxmlformats.org/officeDocument/2006/relationships/notesSlide" Target="/ppt/notesSlides/notesSlide9.xml" Id="Rd12c191563d247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02de37fa64312" /><Relationship Type="http://schemas.openxmlformats.org/officeDocument/2006/relationships/notesSlide" Target="/ppt/notesSlides/notesSlide10.xml" Id="R7f015987e99242e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966a09f344230" /><Relationship Type="http://schemas.openxmlformats.org/officeDocument/2006/relationships/notesSlide" Target="/ppt/notesSlides/notesSlide11.xml" Id="R764654a2f4d5424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f5d2701d748e0" /><Relationship Type="http://schemas.openxmlformats.org/officeDocument/2006/relationships/notesSlide" Target="/ppt/notesSlides/notesSlide12.xml" Id="R1406976421a1492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bfe08eb124d48" /><Relationship Type="http://schemas.openxmlformats.org/officeDocument/2006/relationships/notesSlide" Target="/ppt/notesSlides/notesSlide13.xml" Id="Rae865ce1e6d44ed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ec8e266fd4a83" /><Relationship Type="http://schemas.openxmlformats.org/officeDocument/2006/relationships/notesSlide" Target="/ppt/notesSlides/notesSlide14.xml" Id="Rc438c0379ac74c7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080b3e9254752" /><Relationship Type="http://schemas.openxmlformats.org/officeDocument/2006/relationships/notesSlide" Target="/ppt/notesSlides/notesSlide15.xml" Id="R80c1a0f6aa154bb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fb89ec07f4a36" /><Relationship Type="http://schemas.openxmlformats.org/officeDocument/2006/relationships/notesSlide" Target="/ppt/notesSlides/notesSlide16.xml" Id="R624cc7b8f55246f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a7097ddee4be0" /><Relationship Type="http://schemas.openxmlformats.org/officeDocument/2006/relationships/notesSlide" Target="/ppt/notesSlides/notesSlide17.xml" Id="R7170d323a1f44b9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7c35a65af444d4" /><Relationship Type="http://schemas.openxmlformats.org/officeDocument/2006/relationships/notesSlide" Target="/ppt/notesSlides/notesSlide18.xml" Id="R529e16bc9f564c3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3fecb4b184433" /><Relationship Type="http://schemas.openxmlformats.org/officeDocument/2006/relationships/notesSlide" Target="/ppt/notesSlides/notesSlide19.xml" Id="R2ee4631c007246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2CCB31-3E6C-427E-A3E4-69C51F3A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8A8A8A"/>
                </a:solidFill>
              </a:defRPr>
            </a:pPr>
            <a:r>
              <a:rPr sz="1800" b="1">
                <a:solidFill>
                  <a:srgbClr val="8A8A8A"/>
                </a:solidFill>
              </a:rPr>
              <a:t>Quasar UI Builder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1CB4B-6CEA-47B2-824A-16EF1DCA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ag-grid 기능 정리용 PPT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440C64-4C6F-475E-AA1C-6F7FC928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현재 구현된 테이블 기능을 다시 검토하고, 이후 Codex 작업 지시로 재사용하기 위한 편집 가능한 산출물입니다.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3B4AA3-252C-460C-8AE0-E64D7FA5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533400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16BE45-EA81-476E-9D24-9F94000B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사용 방법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81F3B-F4AF-4C3A-A220-239EDE35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10050"/>
            <a:ext cx="4991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1. 각 기능 ID(AG-xxx)를 유지합니다.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2. 원하는 동작을 '정리할 내용'에 추가합니다.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3. 수정 후 PPT 또는 해당 슬라이드 내용을 Codex에 전달합니다.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6882EA-9633-45DE-B0E7-F115BAF7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495300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79E6A5-B2EF-4927-91E1-68BDAD9F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6715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산출물 위치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CCD93-3B2E-41CC-90ED-1DD5EFE8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10050"/>
            <a:ext cx="4610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docs/ag-grid-feature-inventory.pptx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기준 파일: vscode-extension, generator, src/component/quasar-ui-api, src/css/app.scss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E83135-B5A7-432F-B242-94246CD2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8A8A"/>
                </a:solidFill>
              </a:defRPr>
            </a:pPr>
            <a:r>
              <a:rPr sz="1050" b="0">
                <a:solidFill>
                  <a:srgbClr val="8A8A8A"/>
                </a:solidFill>
              </a:rPr>
              <a:t>quasar_tool / docs / ag-grid-feature-inventory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73942C-A729-4F9F-BBF4-ED58469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A8A8A"/>
                </a:solidFill>
              </a:defRPr>
            </a:pPr>
            <a:r>
              <a:rPr sz="1200" b="1">
                <a:solidFill>
                  <a:srgbClr val="8A8A8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108372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76C2B4-6197-48E1-BBBF-B7F489B9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A8A8A"/>
                </a:solidFill>
              </a:defRPr>
            </a:pPr>
            <a:r>
              <a:rPr sz="1200" b="1">
                <a:solidFill>
                  <a:srgbClr val="8A8A8A"/>
                </a:solidFill>
              </a:rPr>
              <a:t>AG-GRID FEATURE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14C73-2C84-4CE2-960F-43D65A42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Codex 재입력 규칙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9E6E9-2021-4549-99DA-E30DF0B8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C7C7"/>
          </a:solidFill>
          <a:ln xmlns:a="http://schemas.openxmlformats.org/drawingml/2006/main" w="0">
            <a:solidFill>
              <a:srgbClr val="C7C7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D2627-B693-429D-8E17-BCACF8BD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4476750" cy="2476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B710D-8CB9-463D-AA1D-2FAD18D7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AG 기능 카드 규칙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0478B-8098-4EDC-8DD1-D57D42CE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28850"/>
            <a:ext cx="41338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기능 ID는 AG-001 형식으로 유지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현재 동작과 원하는 동작을 분리해서 작성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JSON 필드명과 관련 파일명을 같이 적기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수정 후 성공 기준을 한 줄로 명확히 작성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086912-912E-4F04-B0B0-01AD4023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33550"/>
            <a:ext cx="5810250" cy="2952750"/>
          </a:xfrm>
          <a:prstGeom xmlns:a="http://schemas.openxmlformats.org/drawingml/2006/main" prst="roundRect">
            <a:avLst>
              <a:gd name="adj" fmla="val 1935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F40748-265E-4CEB-9C26-5E115B44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847850"/>
            <a:ext cx="550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5F8D"/>
                </a:solidFill>
              </a:defRPr>
            </a:pPr>
            <a:r>
              <a:rPr sz="1275" b="1">
                <a:solidFill>
                  <a:srgbClr val="0F5F8D"/>
                </a:solidFill>
              </a:rPr>
              <a:t>Codex 전달용 YAML 템플릿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2A0A2C-8548-44AC-B106-2ADE62D5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33600"/>
            <a:ext cx="55054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agGridChange: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  id: AG-000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  title: 기능명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  current: 현재 동작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  desired: 원하는 동작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  jsonFields: [table.headerRows]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  sourceFiles: [vscode-extension/src/tableView.js]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  acceptance: 저장 후 브라우저와 Screen이 동일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D7F8EF-1FAD-453F-A93C-C227013F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070610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499B93-5960-4A98-B3BF-9DDD96C5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244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이 PPT의 역할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9834DB-253E-48C1-92FB-48E689CE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1036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기능 명세 초안이자 재작업용 체크리스트입니다. 화면 설명, JSON 구조, 생성 Vue, API, CSS가 서로 맞는지 검토하는 데 초점을 둡니다.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343C14-1178-478F-B70B-07D8AC19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8A8A"/>
                </a:solidFill>
              </a:defRPr>
            </a:pPr>
            <a:r>
              <a:rPr sz="1050" b="0">
                <a:solidFill>
                  <a:srgbClr val="8A8A8A"/>
                </a:solidFill>
              </a:rPr>
              <a:t>quasar_tool / docs / ag-grid-feature-inventory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07535F-F789-4C0D-858A-8850A485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A8A8A"/>
                </a:solidFill>
              </a:defRPr>
            </a:pPr>
            <a:r>
              <a:rPr sz="1200" b="1">
                <a:solidFill>
                  <a:srgbClr val="8A8A8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127426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C2E6C2-500F-460D-812B-4F5AC0B1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A8A8A"/>
                </a:solidFill>
              </a:defRPr>
            </a:pPr>
            <a:r>
              <a:rPr sz="1200" b="1">
                <a:solidFill>
                  <a:srgbClr val="8A8A8A"/>
                </a:solidFill>
              </a:rPr>
              <a:t>AG-GRID FEATURE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92819-51FE-47B9-9BC0-A1898291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전체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2F2A0-0C42-45F0-9338-4A6FF599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C7C7"/>
          </a:solidFill>
          <a:ln xmlns:a="http://schemas.openxmlformats.org/drawingml/2006/main" w="0">
            <a:solidFill>
              <a:srgbClr val="C7C7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6876C-6168-4F46-8D3A-DFE348EB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143250" cy="219075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8F779-AAD1-437D-96EB-58F1A8C9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5F8D"/>
                </a:solidFill>
              </a:defRPr>
            </a:pPr>
            <a:r>
              <a:rPr sz="1650" b="1">
                <a:solidFill>
                  <a:srgbClr val="0F5F8D"/>
                </a:solidFill>
              </a:rPr>
              <a:t>1. 편집 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F7194-A1BA-4122-BDED-6CAF622E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28003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.src/pages/*.json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Table 컴포넌트 정의, columns, table 옵션, models, events 저장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9AAE79-56DA-4A5B-8D4A-D1D83E34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09750"/>
            <a:ext cx="3143250" cy="219075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44DD8-533F-433E-B326-3E49B3BC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621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5F8D"/>
                </a:solidFill>
              </a:defRPr>
            </a:pPr>
            <a:r>
              <a:rPr sz="1650" b="1">
                <a:solidFill>
                  <a:srgbClr val="0F5F8D"/>
                </a:solidFill>
              </a:rPr>
              <a:t>2. VS Code Webview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FB93E-1DE5-4E7D-9AF2-2FEB6959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05050"/>
            <a:ext cx="28003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Screen 미리보기, Properties, Columns Popup, Table Wizard, 이벤트 패널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2C8F29-92D9-4149-A149-B2E06B39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09750"/>
            <a:ext cx="3143250" cy="219075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905093-E090-4149-9068-65F99E21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621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5F8D"/>
                </a:solidFill>
              </a:defRPr>
            </a:pPr>
            <a:r>
              <a:rPr sz="1650" b="1">
                <a:solidFill>
                  <a:srgbClr val="0F5F8D"/>
                </a:solidFill>
              </a:rPr>
              <a:t>3. Vue 생성/런타임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1D3445-7EA2-46E8-A73C-D6A8351F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05050"/>
            <a:ext cx="28003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generate-vue -&gt; src/pages/*.vue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ag-grid-vue + createTableApi + app.scss 스타일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52300D-5975-45A6-B6A8-1842F10F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81300"/>
            <a:ext cx="4953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0D65D6-503C-4A3B-9884-64B966AD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81300"/>
            <a:ext cx="4953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D64F0D-B002-4E1A-A6FF-6FD09F7B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97917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49879E-BF09-4E22-9719-A4F94889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14850"/>
            <a:ext cx="948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5F8D"/>
                </a:solidFill>
              </a:defRPr>
            </a:pPr>
            <a:r>
              <a:rPr sz="1275" b="1">
                <a:solidFill>
                  <a:srgbClr val="0F5F8D"/>
                </a:solidFill>
              </a:rPr>
              <a:t>핵심 파일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630FE6-15AE-4760-B595-07850138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00600"/>
            <a:ext cx="9486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vscode-extension/src/tableView.js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vscode-extension/src/propertiesView.js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vscode-extension/src/webviews.js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vscode-extension/src/state.js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vscode-extension/generator/table-renderer.mjs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src/component/quasar-ui-api/tableApi.js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src/css/app.scss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423FD9-9848-47EA-9EE0-A58A62CA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8A8A"/>
                </a:solidFill>
              </a:defRPr>
            </a:pPr>
            <a:r>
              <a:rPr sz="1050" b="0">
                <a:solidFill>
                  <a:srgbClr val="8A8A8A"/>
                </a:solidFill>
              </a:rPr>
              <a:t>quasar_tool / docs / ag-grid-feature-inventory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7B3264-1A65-4A6E-B74F-AA429B85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A8A8A"/>
                </a:solidFill>
              </a:defRPr>
            </a:pPr>
            <a:r>
              <a:rPr sz="1200" b="1">
                <a:solidFill>
                  <a:srgbClr val="8A8A8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280384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B1381C-78A0-4F1A-B0CC-87F5044D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A8A8A"/>
                </a:solidFill>
              </a:defRPr>
            </a:pPr>
            <a:r>
              <a:rPr sz="1200" b="1">
                <a:solidFill>
                  <a:srgbClr val="8A8A8A"/>
                </a:solidFill>
              </a:rPr>
              <a:t>AG-GRID FEATURE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4BB3C-1D0D-41FF-A863-2A822A0D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AG-001 Table Wizard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E6D7C4-7180-4B09-BBC4-604A454E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C7C7"/>
          </a:solidFill>
          <a:ln xmlns:a="http://schemas.openxmlformats.org/drawingml/2006/main" w="0">
            <a:solidFill>
              <a:srgbClr val="C7C7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7F903C-6E38-4717-92D8-BF131AAA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4953000" cy="3048000"/>
          </a:xfrm>
          <a:prstGeom xmlns:a="http://schemas.openxmlformats.org/drawingml/2006/main" prst="roundRect">
            <a:avLst>
              <a:gd name="adj" fmla="val 187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FB0BA-3DEA-45CF-ADED-44CFC353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현재 생성 옵션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8081AD-4A43-40AD-848B-46FCAA53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46101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테이블명, row-key, rows/loading binding 입력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selection: none / single / multiple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pagination, filter, mode column, excel copy 옵션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toolbar 버튼: 검색/신규/저장/삭제/엑셀/새로고침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BF879-86F6-4E66-BC21-2D2D563F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71650"/>
            <a:ext cx="5334000" cy="3048000"/>
          </a:xfrm>
          <a:prstGeom xmlns:a="http://schemas.openxmlformats.org/drawingml/2006/main" prst="roundRect">
            <a:avLst>
              <a:gd name="adj" fmla="val 1875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84F54-5284-4150-BF61-15530B79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8595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5F8D"/>
                </a:solidFill>
              </a:defRPr>
            </a:pPr>
            <a:r>
              <a:rPr sz="1275" b="1">
                <a:solidFill>
                  <a:srgbClr val="0F5F8D"/>
                </a:solidFill>
              </a:rPr>
              <a:t>JSON 저장 위치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877F89-FC54-4955-B087-C85FFCA2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71700"/>
            <a:ext cx="50292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component.type = "Table"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component.columns = [...]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component.table = {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  title, rowKey, showModeColumn, excelCopy,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  headerRows, rowRows, selection,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  rowsBinding, loadingBinding, toolbar,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  pagination, states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C71F81-EC05-462F-A02A-B5DCD30D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95875"/>
            <a:ext cx="107061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3D2C39-D4C7-48CD-8ED8-C66E2C27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48275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정리할 내용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D52E8F-7B73-4D21-A691-C378F90F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91175"/>
            <a:ext cx="103632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Wizard에서 신규 생성 시 기본 컬럼/기본 rowRows/headerRows 값을 어떤 기준으로 둘지 결정 필요.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526F49-05CE-407F-BC96-55175F40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8A8A"/>
                </a:solidFill>
              </a:defRPr>
            </a:pPr>
            <a:r>
              <a:rPr sz="1050" b="0">
                <a:solidFill>
                  <a:srgbClr val="8A8A8A"/>
                </a:solidFill>
              </a:rPr>
              <a:t>quasar_tool / docs / ag-grid-feature-inventory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639E53-EFD6-4C30-800E-8F5CBBC5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A8A8A"/>
                </a:solidFill>
              </a:defRPr>
            </a:pPr>
            <a:r>
              <a:rPr sz="1200" b="1">
                <a:solidFill>
                  <a:srgbClr val="8A8A8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144028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D35C9B-ABAC-49F6-B137-B21200BC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A8A8A"/>
                </a:solidFill>
              </a:defRPr>
            </a:pPr>
            <a:r>
              <a:rPr sz="1200" b="1">
                <a:solidFill>
                  <a:srgbClr val="8A8A8A"/>
                </a:solidFill>
              </a:rPr>
              <a:t>AG-GRID FEATURE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492B8-A59A-4873-B6E3-1E666894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AG-002 Properties 패널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EB21D-E871-4E46-9663-693744A8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C7C7"/>
          </a:solidFill>
          <a:ln xmlns:a="http://schemas.openxmlformats.org/drawingml/2006/main" w="0">
            <a:solidFill>
              <a:srgbClr val="C7C7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881D1-9720-4913-BC3C-0A5FD724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속성 그룹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6CE34-B0B5-45E9-B820-E03B2F0A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066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1B0294-8894-4460-8035-6D1CFDB9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49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5F8D"/>
                </a:solidFill>
              </a:defRPr>
            </a:pPr>
            <a:r>
              <a:rPr sz="1200" b="1">
                <a:solidFill>
                  <a:srgbClr val="0F5F8D"/>
                </a:solidFill>
              </a:rPr>
              <a:t>Basic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79DE04-51CD-40B5-A378-A0BA804C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76450"/>
            <a:ext cx="7810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id, title, row-key, header rows, row rows, class, style, height, mode column, excel copy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B35174-5DCB-48C5-8AF0-381AF676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1066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DBB64-37DA-4E18-9EA1-74B1983B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0325"/>
            <a:ext cx="249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5F8D"/>
                </a:solidFill>
              </a:defRPr>
            </a:pPr>
            <a:r>
              <a:rPr sz="1200" b="1">
                <a:solidFill>
                  <a:srgbClr val="0F5F8D"/>
                </a:solidFill>
              </a:rPr>
              <a:t>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071B9A-63E7-4A79-8455-9349DF21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00325"/>
            <a:ext cx="7810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rows binding, columns binding, loading binding, error binding, selected binding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F51E56-864D-4D70-A9B8-B991A12F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066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94AF2-4157-4745-88FA-6207032F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249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5F8D"/>
                </a:solidFill>
              </a:defRPr>
            </a:pPr>
            <a:r>
              <a:rPr sz="1200" b="1">
                <a:solidFill>
                  <a:srgbClr val="0F5F8D"/>
                </a:solidFill>
              </a:rPr>
              <a:t>Columns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2C0EFD-330F-4BAC-9B75-8623A18E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24200"/>
            <a:ext cx="7810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컬럼 목록 표시 + [...] 버튼으로 컬럼 편집 팝업 호출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5B3E02-1CFC-4A0F-83CB-C0BB8609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1066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14139C-28C7-4332-9026-8E752E9E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48075"/>
            <a:ext cx="249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5F8D"/>
                </a:solidFill>
              </a:defRPr>
            </a:pPr>
            <a:r>
              <a:rPr sz="1200" b="1">
                <a:solidFill>
                  <a:srgbClr val="0F5F8D"/>
                </a:solidFill>
              </a:rPr>
              <a:t>Selection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512341-2888-4F33-83F5-DEBDB459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648075"/>
            <a:ext cx="7810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none/single/multiple, row-click event, selectedRow binding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6F9E8F-8E98-4994-B919-D181BB83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066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922E26-5F22-4840-A291-9837D107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249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5F8D"/>
                </a:solidFill>
              </a:defRPr>
            </a:pPr>
            <a:r>
              <a:rPr sz="1200" b="1">
                <a:solidFill>
                  <a:srgbClr val="0F5F8D"/>
                </a:solidFill>
              </a:rPr>
              <a:t>Toolbar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F633B0-9E8A-4024-B613-04023126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171950"/>
            <a:ext cx="7810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filter/search/add/save/delete/excel/refresh 버튼 표시 여부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BDB5DE-5B68-47B3-BA18-B38A831F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66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89150C-0965-4AC1-8FFC-F73D25A4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95825"/>
            <a:ext cx="249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5F8D"/>
                </a:solidFill>
              </a:defRPr>
            </a:pPr>
            <a:r>
              <a:rPr sz="1200" b="1">
                <a:solidFill>
                  <a:srgbClr val="0F5F8D"/>
                </a:solidFill>
              </a:rPr>
              <a:t>Pagination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3B1733-5454-4D4E-A263-9758F0EC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95825"/>
            <a:ext cx="7810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client/server/none, rowsPerPage, rowsPerPageOptions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94006C-35AB-4C6C-B81A-CBBA1578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51435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089E33-B65E-4E1C-8F6F-670254E1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29275"/>
            <a:ext cx="480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관련 파일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6B0E70-8363-4CFE-9251-2805360F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72175"/>
            <a:ext cx="4800600" cy="-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vscode-extension/src/propertiesView.js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vscode-extension/src/state.js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D9A147-1BE5-4AD6-B4B8-643E9905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76875"/>
            <a:ext cx="51435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8C25D5-7E74-4D98-8531-CCC05A67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629275"/>
            <a:ext cx="480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정리할 내용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59A6A8-EA14-4D9C-8BAF-FA39EF9D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972175"/>
            <a:ext cx="4800600" cy="-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q-table 전용 속성은 제거했고 ag-grid 기준 속성만 유지. 추가로 필요한 ag-grid 옵션을 여기서 선별.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5CF6F2-3600-4D39-B0BD-7BE23881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8A8A"/>
                </a:solidFill>
              </a:defRPr>
            </a:pPr>
            <a:r>
              <a:rPr sz="1050" b="0">
                <a:solidFill>
                  <a:srgbClr val="8A8A8A"/>
                </a:solidFill>
              </a:rPr>
              <a:t>quasar_tool / docs / ag-grid-feature-inventory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14C66A-404A-48DF-8A72-0DACF1C4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A8A8A"/>
                </a:solidFill>
              </a:defRPr>
            </a:pPr>
            <a:r>
              <a:rPr sz="1200" b="1">
                <a:solidFill>
                  <a:srgbClr val="8A8A8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215908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EDB187-AD24-42F8-8622-7D21F027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A8A8A"/>
                </a:solidFill>
              </a:defRPr>
            </a:pPr>
            <a:r>
              <a:rPr sz="1200" b="1">
                <a:solidFill>
                  <a:srgbClr val="8A8A8A"/>
                </a:solidFill>
              </a:rPr>
              <a:t>AG-GRID FEATURE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7FD1C-E654-45DE-97AD-160837C0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AG-003 컬럼 편집 팝업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2B458-94D8-4859-96DC-7F701082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C7C7"/>
          </a:solidFill>
          <a:ln xmlns:a="http://schemas.openxmlformats.org/drawingml/2006/main" w="0">
            <a:solidFill>
              <a:srgbClr val="C7C7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E2A898-9B16-4389-A690-85080D5F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42925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98AC2-6B7E-4A92-923A-521B956E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508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현재 기능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9764E0-A77D-4BBD-BA2D-98C4780F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508635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- 컬럼 tree: parent header / child column 구조 표시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- + Column으로 컬럼 추가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- child 선택 시 name, label, field, type, align, width, sortable, required, editable, format, render 편집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- parent 선택 시 별도 컬럼 속성만 표시하고 Label / Field 편집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- 적용 시 updateTableColumns 메시지로 JSON 반영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66649D-43B0-47D5-AEC9-EEBC18D4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485775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7D958-9D56-4610-A636-49F0099B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66900"/>
            <a:ext cx="455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5F8D"/>
                </a:solidFill>
              </a:defRPr>
            </a:pPr>
            <a:r>
              <a:rPr sz="1275" b="1">
                <a:solidFill>
                  <a:srgbClr val="0F5F8D"/>
                </a:solidFill>
              </a:rPr>
              <a:t>parent field 개념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E5F805-89F8-4CF4-ADAE-E6F9218B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52650"/>
            <a:ext cx="45529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headers[0]      = "참조사항"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headerFields[0] = "remark"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body rowRows = 2이면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1줄: row.remark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2줄: child field(row.actions, row.address)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06F59D-9DC9-454C-AB3F-1034488F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485775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652AD1-5B58-4CEE-932C-39405639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5290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관련 파일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40F3B9-1930-438C-ACE5-006FCB51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95800"/>
            <a:ext cx="4514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vscode-extension/src/tableView.js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vscode-extension/src/tableStyles.js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vscode-extension/src/state.js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E5B58C-D79D-45B5-83EE-545140FD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8A8A"/>
                </a:solidFill>
              </a:defRPr>
            </a:pPr>
            <a:r>
              <a:rPr sz="1050" b="0">
                <a:solidFill>
                  <a:srgbClr val="8A8A8A"/>
                </a:solidFill>
              </a:rPr>
              <a:t>quasar_tool / docs / ag-grid-feature-inventory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8C31B1-CF51-4B21-9E05-842E493C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A8A8A"/>
                </a:solidFill>
              </a:defRPr>
            </a:pPr>
            <a:r>
              <a:rPr sz="1200" b="1">
                <a:solidFill>
                  <a:srgbClr val="8A8A8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84125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5AAE5E-2B0A-4C26-9209-AC053852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A8A8A"/>
                </a:solidFill>
              </a:defRPr>
            </a:pPr>
            <a:r>
              <a:rPr sz="1200" b="1">
                <a:solidFill>
                  <a:srgbClr val="8A8A8A"/>
                </a:solidFill>
              </a:rPr>
              <a:t>AG-GRID FEATURE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27563-D139-4C44-9E5B-231EB453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AG-004 Header Rows / Body 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53A1E-9CBA-498F-811A-921421C6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C7C7"/>
          </a:solidFill>
          <a:ln xmlns:a="http://schemas.openxmlformats.org/drawingml/2006/main" w="0">
            <a:solidFill>
              <a:srgbClr val="C7C7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2DA56-0B18-4DAA-978C-5BE27132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4953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5FFBDD-A76A-40E8-AEA7-21F2F772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headerRows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CDEAE-B634-4F7F-A788-10616A28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4610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ag-grid header를 1~3줄까지 구성합니다. 2줄 이상이면 columnDefs가 group header 구조로 생성됩니다.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925D96-4159-435E-96E3-90FA0C9B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95300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050B1-0508-4FB7-890D-4BB087ED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rowRows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BDA263-1F39-436A-982C-A02B5FC2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461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body 한 행을 1~3줄로 표현합니다. parent header field와 child column field가 같은 세로 구조로 움직이도록 설계했습니다.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DB51A8-F3E0-45F3-8202-74858C62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533400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D75B03-D3F7-49CB-AFC7-BA73D31C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288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5F8D"/>
                </a:solidFill>
              </a:defRPr>
            </a:pPr>
            <a:r>
              <a:rPr sz="1275" b="1">
                <a:solidFill>
                  <a:srgbClr val="0F5F8D"/>
                </a:solidFill>
              </a:rPr>
              <a:t>관련 JSON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636D5A-1864-4B2B-AB4D-C952351D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14550"/>
            <a:ext cx="50292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table: {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  headerRows: 2,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  rowRows: 2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}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columns: [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  { label: "작업", field: "actions",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    headers: ["참조사항"],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    headerFields: ["remark"] }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58EEB4-2008-4BD0-A158-A1BB6E28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57750"/>
            <a:ext cx="53340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39D2E7-230E-48E3-A319-E41B2933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010150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정리할 내용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0938B8-2CBC-4832-B9E1-46AB97AC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53050"/>
            <a:ext cx="4991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headerRows와 rowRows가 서로 다를 때 병합/표시 규칙을 더 명확히 정의해야 함.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8753E6-E43D-45E8-8487-745A5AB6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8A8A"/>
                </a:solidFill>
              </a:defRPr>
            </a:pPr>
            <a:r>
              <a:rPr sz="1050" b="0">
                <a:solidFill>
                  <a:srgbClr val="8A8A8A"/>
                </a:solidFill>
              </a:rPr>
              <a:t>quasar_tool / docs / ag-grid-feature-inventory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347698-D6FD-4D16-8239-E298634D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A8A8A"/>
                </a:solidFill>
              </a:defRPr>
            </a:pPr>
            <a:r>
              <a:rPr sz="1200" b="1">
                <a:solidFill>
                  <a:srgbClr val="8A8A8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144809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23CE7E-7B34-48D4-896E-D1A0FA64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A8A8A"/>
                </a:solidFill>
              </a:defRPr>
            </a:pPr>
            <a:r>
              <a:rPr sz="1200" b="1">
                <a:solidFill>
                  <a:srgbClr val="8A8A8A"/>
                </a:solidFill>
              </a:rPr>
              <a:t>AG-GRID FEATURE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D8D8A-A912-41C5-881B-2437D562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AG-005 Vue 생성과 columnDefs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8090F-DF06-4263-B31C-FEF9A782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C7C7"/>
          </a:solidFill>
          <a:ln xmlns:a="http://schemas.openxmlformats.org/drawingml/2006/main" w="0">
            <a:solidFill>
              <a:srgbClr val="C7C7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2F3D8D-AC31-4B63-8A3A-E0C1BE1A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334000" cy="28575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9B259-ACE4-417E-AFEB-3914BEDC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생성 원칙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2C42C-FF75-497E-8C72-59DF5506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49911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q-table이 아니라 ag-grid-vue 태그 생성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:column-defs는 inline이 아니라 const TableID_columnDefs로 분리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headerRows &gt; 1이면 { headerName, children } 그룹 컬럼 생성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rowRows &gt; 1이면 qtGroupRowCell renderer로 parent/child body 표현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EF5049-0E61-48A6-993A-2507EE21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495300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CE52A-9586-4343-8420-DA941AF9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6690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5F8D"/>
                </a:solidFill>
              </a:defRPr>
            </a:pPr>
            <a:r>
              <a:rPr sz="1275" b="1">
                <a:solidFill>
                  <a:srgbClr val="0F5F8D"/>
                </a:solidFill>
              </a:rPr>
              <a:t>생성 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A151F7-6340-4FC6-B878-F7020877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52650"/>
            <a:ext cx="46482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const Table001_columnDefs = [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  { headerName: "참조사항", children: [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    { colId: "actions", field: "actions",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      qtGroupRowCell: true,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      cellRenderer: (...) =&gt; group row editor }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  ]}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8754A-F78B-41AC-B2C1-E4E778E0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10706100" cy="762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9AFB13-F59F-4FC9-8657-BC7C6FB6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0065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관련 파일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02FE9E-9C4C-459D-9DBF-A5156D2B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43550"/>
            <a:ext cx="1036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vscode-extension/generator/generate-vue.mjs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vscode-extension/generator/table-renderer.mjs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src/pages/*.vue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C882E5-1FBF-48A6-A005-AEC1F12A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8A8A"/>
                </a:solidFill>
              </a:defRPr>
            </a:pPr>
            <a:r>
              <a:rPr sz="1050" b="0">
                <a:solidFill>
                  <a:srgbClr val="8A8A8A"/>
                </a:solidFill>
              </a:rPr>
              <a:t>quasar_tool / docs / ag-grid-feature-inventory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BFBC4E-9254-49CA-ABF7-89837620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A8A8A"/>
                </a:solidFill>
              </a:defRPr>
            </a:pPr>
            <a:r>
              <a:rPr sz="1200" b="1">
                <a:solidFill>
                  <a:srgbClr val="8A8A8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420548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2D68FE-4125-4A13-8C38-151A537F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A8A8A"/>
                </a:solidFill>
              </a:defRPr>
            </a:pPr>
            <a:r>
              <a:rPr sz="1200" b="1">
                <a:solidFill>
                  <a:srgbClr val="8A8A8A"/>
                </a:solidFill>
              </a:rPr>
              <a:t>AG-GRID FEATURE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77774-2713-4C60-A4E4-F28B9D6D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AG-006 Data Binding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917CB-19DE-48CF-AD86-80030965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C7C7"/>
          </a:solidFill>
          <a:ln xmlns:a="http://schemas.openxmlformats.org/drawingml/2006/main" w="0">
            <a:solidFill>
              <a:srgbClr val="C7C7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418C82-9818-4921-8044-A157CD65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바인딩 항목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2427A5-5D5D-426E-A4AF-C184A923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0668000" cy="561975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2A645-48CA-4486-9B23-3F9C4824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49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5F8D"/>
                </a:solidFill>
              </a:defRPr>
            </a:pPr>
            <a:r>
              <a:rPr sz="1200" b="1">
                <a:solidFill>
                  <a:srgbClr val="0F5F8D"/>
                </a:solidFill>
              </a:rPr>
              <a:t>rows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E154BB-B943-4E57-8FFC-D4D1828C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7645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dynamic.rows 또는 table.rowsBinding. 배열이 아니면 저장 시 오류 메시지 대상.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E7344-FE98-40F0-A344-20B029A4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0668000" cy="561975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8C8B48-D954-412B-A9DF-AE5B2E30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249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5F8D"/>
                </a:solidFill>
              </a:defRPr>
            </a:pPr>
            <a:r>
              <a:rPr sz="1200" b="1">
                <a:solidFill>
                  <a:srgbClr val="0F5F8D"/>
                </a:solidFill>
              </a:rPr>
              <a:t>columns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A407B-2F6F-4D1B-B918-B24D9C86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4795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dynamic.columns가 있으면 JSON columns 대신 외부 컬럼 바인딩 사용 가능.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6E0995-1454-49ED-8B19-87C26F41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10668000" cy="561975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49044A-9451-4019-8AFB-7022B584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249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5F8D"/>
                </a:solidFill>
              </a:defRPr>
            </a:pPr>
            <a:r>
              <a:rPr sz="1200" b="1">
                <a:solidFill>
                  <a:srgbClr val="0F5F8D"/>
                </a:solidFill>
              </a:rPr>
              <a:t>loading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B3216F-9D1D-4700-8934-964702A3D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1945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table.loadingBinding 또는 dynamic.loading.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1770A5-395E-4157-B382-B9DC709D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0668000" cy="561975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CC6227-7BF4-4906-A618-C7A93245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249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5F8D"/>
                </a:solidFill>
              </a:defRPr>
            </a:pPr>
            <a:r>
              <a:rPr sz="1200" b="1">
                <a:solidFill>
                  <a:srgbClr val="0F5F8D"/>
                </a:solidFill>
              </a:rPr>
              <a:t>selected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717C40-FD48-4FBE-A509-9CF3557C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9095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models.selected. single/multiple 선택 결과 저장.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C41080-7EE1-41DF-ADC5-5A18745E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0668000" cy="561975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96DC61-8C53-4263-B13F-0DD785BA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249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5F8D"/>
                </a:solidFill>
              </a:defRPr>
            </a:pPr>
            <a:r>
              <a:rPr sz="1200" b="1">
                <a:solidFill>
                  <a:srgbClr val="0F5F8D"/>
                </a:solidFill>
              </a:rPr>
              <a:t>pagination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811DD7-DC68-4EC3-BD11-5E60D4DD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36245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models.pagination. rowsPerPage와 page 상태 저장.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9CB8A2-B428-461F-93D4-5F4F5181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495300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BDB882-8B9E-44AB-BD11-979D25BC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5F8D"/>
                </a:solidFill>
              </a:defRPr>
            </a:pPr>
            <a:r>
              <a:rPr sz="1275" b="1">
                <a:solidFill>
                  <a:srgbClr val="0F5F8D"/>
                </a:solidFill>
              </a:rPr>
              <a:t>Pinia 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F13AB9-21DC-4818-BC3C-2727BB2E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464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:row-data="storeName.list"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selected: { get: () =&gt; storeName.selectedRow }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loading: { get: () =&gt; storeName.loading }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36E498-7F2F-422E-866B-C7489612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38750"/>
            <a:ext cx="523875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1EE04B-790C-49BC-9828-D1AB1B8F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91150"/>
            <a:ext cx="489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정리할 내용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057E97-4756-4855-BC44-4B31D4A0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734050"/>
            <a:ext cx="489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rows binding은 반드시 Array여야 함. Store state tree에서 드래그해 rows binding으로 넣는 UX 필요 여부 검토.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F4712A-7A95-45F8-B910-1932215B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8A8A"/>
                </a:solidFill>
              </a:defRPr>
            </a:pPr>
            <a:r>
              <a:rPr sz="1050" b="0">
                <a:solidFill>
                  <a:srgbClr val="8A8A8A"/>
                </a:solidFill>
              </a:rPr>
              <a:t>quasar_tool / docs / ag-grid-feature-inventory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0761AD-7E7D-40D3-8243-7A5D93CD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A8A8A"/>
                </a:solidFill>
              </a:defRPr>
            </a:pPr>
            <a:r>
              <a:rPr sz="1200" b="1">
                <a:solidFill>
                  <a:srgbClr val="8A8A8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939691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E3F98D-66E4-449F-83FC-69C3C228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A8A8A"/>
                </a:solidFill>
              </a:defRPr>
            </a:pPr>
            <a:r>
              <a:rPr sz="1200" b="1">
                <a:solidFill>
                  <a:srgbClr val="8A8A8A"/>
                </a:solidFill>
              </a:rPr>
              <a:t>AG-GRID FEATURE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05076-1B2F-435C-B2B2-1869BA95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AG-007 Table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6D813-6F5B-4561-8C5D-4219866E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C7C7"/>
          </a:solidFill>
          <a:ln xmlns:a="http://schemas.openxmlformats.org/drawingml/2006/main" w="0">
            <a:solidFill>
              <a:srgbClr val="C7C7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4C3D11-43D1-4030-8B89-2F24C673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5334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F3EB5-8690-4C35-80B5-144B2483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현재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53778-2D3B-48C9-8632-1F44E033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49911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addRow(row), delRow(index), delSelectedRow(), delSelectedRows()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getSelectedIndex(), getRows(), setRows(), getColumns()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handlePaste(), handleCopy(), pasteText()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handleCellKeyDown(), suppressKeyboardEvent()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setGridApi(), setSelected(), setPagination()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C5D04-E681-410E-A726-DF664BF8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71650"/>
            <a:ext cx="4953000" cy="2667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398AB2-5637-4A80-96FB-0EF74E86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8595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5F8D"/>
                </a:solidFill>
              </a:defRPr>
            </a:pPr>
            <a:r>
              <a:rPr sz="1275" b="1">
                <a:solidFill>
                  <a:srgbClr val="0F5F8D"/>
                </a:solidFill>
              </a:rPr>
              <a:t>개발자 사용 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6FA583-F555-459C-B525-5F530156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71700"/>
            <a:ext cx="46482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function onTableDelete_Table001() {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  const index = Table001.getSelectedIndex()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  if (index &gt;= 0) Table001.delSelectedRow()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function onTableAdd_Table001() {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  Table001.addRow({ name: "", mode: "C" })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E1F9E2-EABC-43B2-9CC8-7AE911E4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62500"/>
            <a:ext cx="49530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FF3087-8CFF-4431-8DB0-75A37AFF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관련 파일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C0483E-670F-44D5-91E5-8C11FD58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57800"/>
            <a:ext cx="4610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src/component/quasar-ui-api/tableApi.js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src/component/quasar-ui-api/index.js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F3B01B-C013-4DF0-B4A5-D57D5D60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8A8A"/>
                </a:solidFill>
              </a:defRPr>
            </a:pPr>
            <a:r>
              <a:rPr sz="1050" b="0">
                <a:solidFill>
                  <a:srgbClr val="8A8A8A"/>
                </a:solidFill>
              </a:rPr>
              <a:t>quasar_tool / docs / ag-grid-feature-inventory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E69193-14E3-428A-BD60-16DAB801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A8A8A"/>
                </a:solidFill>
              </a:defRPr>
            </a:pPr>
            <a:r>
              <a:rPr sz="1200" b="1">
                <a:solidFill>
                  <a:srgbClr val="8A8A8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44850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C6469C-A19A-42FC-8543-8205A72D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A8A8A"/>
                </a:solidFill>
              </a:defRPr>
            </a:pPr>
            <a:r>
              <a:rPr sz="1200" b="1">
                <a:solidFill>
                  <a:srgbClr val="8A8A8A"/>
                </a:solidFill>
              </a:rPr>
              <a:t>AG-GRID FEATURE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4DF8F5-F816-4545-BB51-A7D6E89B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AG-008 Row Mode RCUD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DC8088-E932-402D-8BEA-693680F0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C7C7"/>
          </a:solidFill>
          <a:ln xmlns:a="http://schemas.openxmlformats.org/drawingml/2006/main" w="0">
            <a:solidFill>
              <a:srgbClr val="C7C7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299F4-F634-4811-9EFC-8E25ED96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49530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1731E1-5238-4CD9-B579-C3F230CA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mode 컬럼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080D1E-F3F0-47DF-9FB4-243CDC06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4610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모든 row에 mode 필드를 두고 R/C/U/D 상태를 관리합니다. 속성에서 mode column 표시 여부를 선택할 수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68133-FDB7-4696-AA9A-F7DE17BE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상태 의미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F82F2-6A51-447A-B90A-2F25129A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5334000" cy="561975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909F8C-B567-4B37-89C4-445359D5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76450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5F8D"/>
                </a:solidFill>
              </a:defRPr>
            </a:pPr>
            <a:r>
              <a:rPr sz="1200" b="1">
                <a:solidFill>
                  <a:srgbClr val="0F5F8D"/>
                </a:solidFill>
              </a:rPr>
              <a:t>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20DC6-D961-4C98-9325-9702935F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764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기존 데이터. 최초 로딩 또는 변경 없음.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95F92B-9D6C-4A74-87FD-CBE2A1AC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71750"/>
            <a:ext cx="5334000" cy="561975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EA97C3-4CE8-4A1B-B015-CABE9AF7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47950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5F8D"/>
                </a:solidFill>
              </a:defRPr>
            </a:pPr>
            <a:r>
              <a:rPr sz="1200" b="1">
                <a:solidFill>
                  <a:srgbClr val="0F5F8D"/>
                </a:solidFill>
              </a:rPr>
              <a:t>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84F1D4-BB92-4E88-9DCD-C29D80B4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479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신규 추가 row. 마지막 행 아래 방향키 또는 addRow로 생성.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3899E1-EBC0-40C7-87DD-797C69D6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43250"/>
            <a:ext cx="5334000" cy="561975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F664EE-2745-47CC-A3A8-84440D86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19450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5F8D"/>
                </a:solidFill>
              </a:defRPr>
            </a:pPr>
            <a:r>
              <a:rPr sz="1200" b="1">
                <a:solidFill>
                  <a:srgbClr val="0F5F8D"/>
                </a:solidFill>
              </a:rPr>
              <a:t>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0D0090-8BBD-4F27-B88B-6F7B86D9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194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기존 row 수정됨. C/D가 아니면 cell edit 시 U로 변경.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23FA9F-A14B-4459-A4A4-2FDAB2E1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14750"/>
            <a:ext cx="5334000" cy="561975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087621-42B9-4A36-9B55-FCD3A88A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90950"/>
            <a:ext cx="1162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5F8D"/>
                </a:solidFill>
              </a:defRPr>
            </a:pPr>
            <a:r>
              <a:rPr sz="1200" b="1">
                <a:solidFill>
                  <a:srgbClr val="0F5F8D"/>
                </a:solidFill>
              </a:rPr>
              <a:t>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F5ABAF-7C4A-40CB-8286-3DFE03A8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909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삭제 대상 row. 실제 삭제/표시 정책은 추가 정리 필요.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46553E-1514-4604-97E2-C01FF855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0706100" cy="762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BD4245-1B9B-4950-B6DC-0E144EB9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정리할 내용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2011B5-A35E-4FEC-8D43-7E49FCD8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57800"/>
            <a:ext cx="10363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 상태를 즉시 제거할지, 숨김 처리 후 저장 시 삭제 요청으로 보낼지 결정 필요.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83C3DF-C335-49A8-8A4C-E7F38012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8A8A"/>
                </a:solidFill>
              </a:defRPr>
            </a:pPr>
            <a:r>
              <a:rPr sz="1050" b="0">
                <a:solidFill>
                  <a:srgbClr val="8A8A8A"/>
                </a:solidFill>
              </a:rPr>
              <a:t>quasar_tool / docs / ag-grid-feature-inventory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D3BF73-3B3A-4000-83E2-556C132B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A8A8A"/>
                </a:solidFill>
              </a:defRPr>
            </a:pPr>
            <a:r>
              <a:rPr sz="1200" b="1">
                <a:solidFill>
                  <a:srgbClr val="8A8A8A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864984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AEE623-E3F6-4500-B0A1-2180632C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A8A8A"/>
                </a:solidFill>
              </a:defRPr>
            </a:pPr>
            <a:r>
              <a:rPr sz="1200" b="1">
                <a:solidFill>
                  <a:srgbClr val="8A8A8A"/>
                </a:solidFill>
              </a:rPr>
              <a:t>AG-GRID FEATURE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94B92B-EEDD-44CF-AC69-7B02AA30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AG-009 키보드와 편집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842BD-8C20-4C71-9BDD-4DF2A9EF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C7C7"/>
          </a:solidFill>
          <a:ln xmlns:a="http://schemas.openxmlformats.org/drawingml/2006/main" w="0">
            <a:solidFill>
              <a:srgbClr val="C7C7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67CF76-97E5-48A6-8531-FBFF3D3D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62865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9A0D0-01C4-4F6C-A14B-C98063A9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594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현재 동작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4B921A-0331-454A-8905-2D11FBC2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59436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마우스 클릭은 선택만, 더블클릭 시 편집모드 진입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Enter는 아래 셀로 단순 이동. Shift+Enter는 편집 완료만 수행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방향키는 편집 완료 후 인접 editable 셀로 이동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좌/우 방향키는 입력 커서가 문자열 내부에 있으면 커서 이동 유지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IME 조합 이벤트는 자동 편집 시작을 억제해 한글 첫 글자 문제를 완화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A148FC-D80D-42D0-BC57-8F045CF0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52600"/>
            <a:ext cx="400050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4948FE-7F5E-422D-8597-CBA26A38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866900"/>
            <a:ext cx="369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5F8D"/>
                </a:solidFill>
              </a:defRPr>
            </a:pPr>
            <a:r>
              <a:rPr sz="1275" b="1">
                <a:solidFill>
                  <a:srgbClr val="0F5F8D"/>
                </a:solidFill>
              </a:rPr>
              <a:t>관련 함수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4C32C-BB2F-40F1-9499-4BC7AB73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52650"/>
            <a:ext cx="36957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shouldKeepHorizontalArrowInEditor()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moveToAdjacentEditableCell()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handleCellKeyDown()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suppressKeyboardEvent()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isImeKeyboardEvent()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082C3-2029-4F94-9A76-EAEEE1C2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91000"/>
            <a:ext cx="40005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D75D79-D1B1-4647-A972-B1407D59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343400"/>
            <a:ext cx="365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정리할 내용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39F7C3-4421-4C1E-ACBC-FF56D25B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86300"/>
            <a:ext cx="365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한글 입력 UX는 AG Grid 기본 편집 흐름과 충돌 가능. 업무 기준으로 Enter-first 편집을 유지할지 결정.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ACADF0-A98D-4D3E-8ACE-B2ED43D9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8A8A"/>
                </a:solidFill>
              </a:defRPr>
            </a:pPr>
            <a:r>
              <a:rPr sz="1050" b="0">
                <a:solidFill>
                  <a:srgbClr val="8A8A8A"/>
                </a:solidFill>
              </a:rPr>
              <a:t>quasar_tool / docs / ag-grid-feature-inventory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BC5E50-E6BA-4777-BBA7-D4AB723F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A8A8A"/>
                </a:solidFill>
              </a:defRPr>
            </a:pPr>
            <a:r>
              <a:rPr sz="1200" b="1">
                <a:solidFill>
                  <a:srgbClr val="8A8A8A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221444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B7B925-36AB-4C43-9A20-C9559ED5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A8A8A"/>
                </a:solidFill>
              </a:defRPr>
            </a:pPr>
            <a:r>
              <a:rPr sz="1200" b="1">
                <a:solidFill>
                  <a:srgbClr val="8A8A8A"/>
                </a:solidFill>
              </a:rPr>
              <a:t>AG-GRID FEATURE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243ED8-5BE3-435C-926D-D4CB67D5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AG-010 Excel Copy / Paste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05E3E-14E1-4FEE-8D5C-55F7B226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C7C7"/>
          </a:solidFill>
          <a:ln xmlns:a="http://schemas.openxmlformats.org/drawingml/2006/main" w="0">
            <a:solidFill>
              <a:srgbClr val="C7C7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93A90-7093-4EF7-B820-D9A322AB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4953000" cy="2476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B11A0-CA18-49F1-85FF-9B4670B4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붙여넣기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BF351A-588D-475A-9650-271CACC4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46101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Ctrl+V로 TSV/Excel clipboard 파싱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현재 focused cell 기준으로 editable 컬럼에 값 채움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필요하면 부족한 row를 자동 생성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붙여넣은 신규 row는 mode C 또는 U 처리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22193C-FB32-463A-A985-94C4F152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4953000" cy="24765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BC20CD-C24A-4A77-AC34-CE95C726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0500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복사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E03317-DE64-4DDA-A718-0646305B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47900"/>
            <a:ext cx="46101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마우스 드래그로 복사 범위 선택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Ctrl+C로 선택 범위를 TSV로 clipboard에 기록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excel copy 속성으로 사용 여부 제어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mode/actions/row-key 같은 비데이터 컬럼은 제외 대상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8EA33-0CFF-48E0-A251-08B55D87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342900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2FBF0-C600-4463-A65C-24208671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312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5F8D"/>
                </a:solidFill>
              </a:defRPr>
            </a:pPr>
            <a:r>
              <a:rPr sz="1275" b="1">
                <a:solidFill>
                  <a:srgbClr val="0F5F8D"/>
                </a:solidFill>
              </a:rPr>
              <a:t>JSON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84FECA-F55E-4197-B299-79E40A29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table: {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  excelCopy: true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5D8086-7DE7-4F53-9CB5-B134F0E9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685800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798831-0277-4F52-B856-D82D8045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914900"/>
            <a:ext cx="651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정리할 내용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603F8F-E7D6-44A0-9883-D168B024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57800"/>
            <a:ext cx="651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복사 범위 표시 색상, header 포함 여부, hidden column 포함 여부를 정책화하면 좋음.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9E0360-334A-4FC7-9F35-CEDB3E40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8A8A"/>
                </a:solidFill>
              </a:defRPr>
            </a:pPr>
            <a:r>
              <a:rPr sz="1050" b="0">
                <a:solidFill>
                  <a:srgbClr val="8A8A8A"/>
                </a:solidFill>
              </a:rPr>
              <a:t>quasar_tool / docs / ag-grid-feature-inventory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A486DE-351B-4726-BE51-CEAA1AFF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A8A8A"/>
                </a:solidFill>
              </a:defRPr>
            </a:pPr>
            <a:r>
              <a:rPr sz="1200" b="1">
                <a:solidFill>
                  <a:srgbClr val="8A8A8A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935969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4952AE-FF0E-48A8-AE67-D076B102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A8A8A"/>
                </a:solidFill>
              </a:defRPr>
            </a:pPr>
            <a:r>
              <a:rPr sz="1200" b="1">
                <a:solidFill>
                  <a:srgbClr val="8A8A8A"/>
                </a:solidFill>
              </a:rPr>
              <a:t>AG-GRID FEATURE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5353B-EC7D-4FFD-ADBC-594277B5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AG-011 Selection / Events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027D0-0FE3-4A6D-8C9A-B26EC865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C7C7"/>
          </a:solidFill>
          <a:ln xmlns:a="http://schemas.openxmlformats.org/drawingml/2006/main" w="0">
            <a:solidFill>
              <a:srgbClr val="C7C7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0C68E-1971-4878-858C-E2E7F9F1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선택/이벤트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71BFE6-2853-4198-BEA9-9EAD7F6C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06680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AD49F4-77E6-4B35-B621-3BD0640C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495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5F8D"/>
                </a:solidFill>
              </a:defRPr>
            </a:pPr>
            <a:r>
              <a:rPr sz="1200" b="1">
                <a:solidFill>
                  <a:srgbClr val="0F5F8D"/>
                </a:solidFill>
              </a:rPr>
              <a:t>selection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7513D1-B03C-45D8-8367-FD526D71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76450"/>
            <a:ext cx="7810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none / single / multiple. checkbox selection 사용, row click으로 checkbox 변경 방지.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1C9058-7C97-4441-82A8-21DC608D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6680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BA418E-8FF4-4562-ABD6-AE10295A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2495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5F8D"/>
                </a:solidFill>
              </a:defRPr>
            </a:pPr>
            <a:r>
              <a:rPr sz="1200" b="1">
                <a:solidFill>
                  <a:srgbClr val="0F5F8D"/>
                </a:solidFill>
              </a:rPr>
              <a:t>row-click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5B33F-C4DE-4838-9ACC-85F33A02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95575"/>
            <a:ext cx="7810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event 패널에서 자동 생성. selectedRow 저장과 병행 가능.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235AE8-A21A-48A1-82ED-DAD36DAF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06680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D1B6C0-320E-4C91-BED6-F5B1A5C0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2495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5F8D"/>
                </a:solidFill>
              </a:defRPr>
            </a:pPr>
            <a:r>
              <a:rPr sz="1200" b="1">
                <a:solidFill>
                  <a:srgbClr val="0F5F8D"/>
                </a:solidFill>
              </a:rPr>
              <a:t>toolbar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513BF8-E415-4F87-9CF2-5A2B8440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14700"/>
            <a:ext cx="7810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신규/저장/삭제/새로고침 버튼은 각각 handler 이름 자동 생성.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F0F7F8-4A41-4116-A11B-29D867E7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06680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626467-C0B8-45DB-8B93-57919F95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33825"/>
            <a:ext cx="2495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5F8D"/>
                </a:solidFill>
              </a:defRPr>
            </a:pPr>
            <a:r>
              <a:rPr sz="1200" b="1">
                <a:solidFill>
                  <a:srgbClr val="0F5F8D"/>
                </a:solidFill>
              </a:rPr>
              <a:t>dblclick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4AC16C-899B-4521-9762-56C6AFA5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933825"/>
            <a:ext cx="7810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Screen에서 버튼을 더블클릭하면 해당 버튼 이벤트로 이동.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93AC65-CD0D-430E-AD29-106ED7F2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400050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AF08B8-BB8B-4AD7-8D40-159BBBFC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369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5F8D"/>
                </a:solidFill>
              </a:defRPr>
            </a:pPr>
            <a:r>
              <a:rPr sz="1275" b="1">
                <a:solidFill>
                  <a:srgbClr val="0F5F8D"/>
                </a:solidFill>
              </a:rPr>
              <a:t>이벤트 후보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2F6BDB-BCA7-448A-A3BC-87410AB5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3695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row-click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row-dblclick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selection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request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update:pagination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9506A8-448E-4F8D-81E6-A345AA92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953000"/>
            <a:ext cx="61912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DFA8D0-67CC-4D46-B9C7-9ADEF989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105400"/>
            <a:ext cx="584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관련 파일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25EDAB-C1A4-4EA5-B9D1-D1758C40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448300"/>
            <a:ext cx="584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vscode-extension/src/eventsView.js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vscode-extension/src/webviews.js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vscode-extension/src/tableView.js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9A79F2-B6AD-47D7-B5EE-7F96EDE1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8A8A"/>
                </a:solidFill>
              </a:defRPr>
            </a:pPr>
            <a:r>
              <a:rPr sz="1050" b="0">
                <a:solidFill>
                  <a:srgbClr val="8A8A8A"/>
                </a:solidFill>
              </a:rPr>
              <a:t>quasar_tool / docs / ag-grid-feature-inventory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F3CB6E-C918-445F-B689-D8324E32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A8A8A"/>
                </a:solidFill>
              </a:defRPr>
            </a:pPr>
            <a:r>
              <a:rPr sz="1200" b="1">
                <a:solidFill>
                  <a:srgbClr val="8A8A8A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418539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938E0D-8CEC-41E3-B901-4B6327AF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A8A8A"/>
                </a:solidFill>
              </a:defRPr>
            </a:pPr>
            <a:r>
              <a:rPr sz="1200" b="1">
                <a:solidFill>
                  <a:srgbClr val="8A8A8A"/>
                </a:solidFill>
              </a:rPr>
              <a:t>AG-GRID FEATURE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FAF2B7-7DC7-49EB-B4DB-A00B5B4C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AG-012 Styling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0912B2-9BBB-469E-A90B-99314E76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C7C7"/>
          </a:solidFill>
          <a:ln xmlns:a="http://schemas.openxmlformats.org/drawingml/2006/main" w="0">
            <a:solidFill>
              <a:srgbClr val="C7C7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9D5CD-CA2C-4CD4-8BB2-00740CC6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715000" cy="3238500"/>
          </a:xfrm>
          <a:prstGeom xmlns:a="http://schemas.openxmlformats.org/drawingml/2006/main" prst="roundRect">
            <a:avLst>
              <a:gd name="adj" fmla="val 176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F311E-D730-47C0-B63C-C6EA0B90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537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현재 스타일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545A0-3EEC-447A-AD35-0F3867EE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537210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ag-grid quartz 계열 CSS를 공통 CSS에 import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헤더 배경색은 파란색 계열, body는 zebra row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checkbox는 AG Grid 순수 checkbox 사용, radius를 작게 조정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toolbar 버튼은 outline/unelevated/연한 색상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테이블 height는 ag-grid wrapper div style에 적용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E4402-68B1-46D0-BA25-ABAF779C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52600"/>
            <a:ext cx="4572000" cy="1714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1489D-596D-4C42-857B-E8427123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66900"/>
            <a:ext cx="426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5F8D"/>
                </a:solidFill>
              </a:defRPr>
            </a:pPr>
            <a:r>
              <a:rPr sz="1275" b="1">
                <a:solidFill>
                  <a:srgbClr val="0F5F8D"/>
                </a:solidFill>
              </a:rPr>
              <a:t>주요 CSS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9C53F-805B-4683-82EA-C13CA125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52650"/>
            <a:ext cx="42672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.qt-ag-grid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.qt-ag-grid .ag-header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.qt-ag-grid .ag-row-selected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.qt-ag-grid .qt-ag-group-row-editor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.qt-table-toolbar-preview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48F753-2B3F-4EA7-93BF-921DF95C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4572000" cy="857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E6BD53-BD65-4A77-BA10-7A93B5FA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57650"/>
            <a:ext cx="422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관련 파일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ACEAD-B355-483E-A1AE-D956E6AE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00550"/>
            <a:ext cx="422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src/css/app.scss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vscode-extension/src/tableStyles.js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63CE57-C129-414A-BFF9-D770B675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8A8A"/>
                </a:solidFill>
              </a:defRPr>
            </a:pPr>
            <a:r>
              <a:rPr sz="1050" b="0">
                <a:solidFill>
                  <a:srgbClr val="8A8A8A"/>
                </a:solidFill>
              </a:rPr>
              <a:t>quasar_tool / docs / ag-grid-feature-inventory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213396-9F09-4530-BA7D-A7178850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A8A8A"/>
                </a:solidFill>
              </a:defRPr>
            </a:pPr>
            <a:r>
              <a:rPr sz="1200" b="1">
                <a:solidFill>
                  <a:srgbClr val="8A8A8A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0958508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D1418B-6F51-4620-9950-8E91FC93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A8A8A"/>
                </a:solidFill>
              </a:defRPr>
            </a:pPr>
            <a:r>
              <a:rPr sz="1200" b="1">
                <a:solidFill>
                  <a:srgbClr val="8A8A8A"/>
                </a:solidFill>
              </a:rPr>
              <a:t>AG-GRID FEATURE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BB132-209D-4CFD-88D8-0EB90E24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AG-013 Multi Header Editing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666C7-1B43-492A-A5BE-6ED1432E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C7C7"/>
          </a:solidFill>
          <a:ln xmlns:a="http://schemas.openxmlformats.org/drawingml/2006/main" w="0">
            <a:solidFill>
              <a:srgbClr val="C7C7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503FF-DD20-41FB-AB6D-4FE0350DF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9055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B7441-5E09-4A09-B8D8-65CF7F21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556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현재 구현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C0421A-886D-4D66-8913-FED2D2B1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55626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Screen ag-grid header cell 클릭 시 선택 표시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header parent/child를 column popup tree에서 편집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headerRows 2 이상이면 group header 생성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parent Label은 headers[], parent Field는 headerFields[]에 저장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병합 취소는 동일 group을 개별 column label로 분해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D2C12-5EFC-4479-B0F3-A9C4291C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52600"/>
            <a:ext cx="438150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7F77A7-86A3-4187-8F51-7F5380E1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66900"/>
            <a:ext cx="407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5F8D"/>
                </a:solidFill>
              </a:defRPr>
            </a:pPr>
            <a:r>
              <a:rPr sz="1275" b="1">
                <a:solidFill>
                  <a:srgbClr val="0F5F8D"/>
                </a:solidFill>
              </a:rPr>
              <a:t>정리할 데이터 모델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52B05-E121-47A5-A383-ADAE07E5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52650"/>
            <a:ext cx="40767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column = {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  name: "actions",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  label: "작업",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  field: "actions",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  headers: ["참조사항"],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  headerFields: ["remark"]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1EC12-C71B-4CF2-872C-F1DE7603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00500"/>
            <a:ext cx="4381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0F51CC-9734-4265-928A-B3970F01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5290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정리할 내용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94E617-1BD9-4CE6-9921-D24753A0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95800"/>
            <a:ext cx="403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headerRows 3일 때 parent-of-parent field를 body 3줄과 어떻게 연결할지 추가 정의 필요.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8E4D0D-BB95-42FE-BD02-02E25454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8A8A"/>
                </a:solidFill>
              </a:defRPr>
            </a:pPr>
            <a:r>
              <a:rPr sz="1050" b="0">
                <a:solidFill>
                  <a:srgbClr val="8A8A8A"/>
                </a:solidFill>
              </a:rPr>
              <a:t>quasar_tool / docs / ag-grid-feature-inventory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470B9D-6507-41C6-A493-08F253F1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A8A8A"/>
                </a:solidFill>
              </a:defRPr>
            </a:pPr>
            <a:r>
              <a:rPr sz="1200" b="1">
                <a:solidFill>
                  <a:srgbClr val="8A8A8A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10030982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F1B4E9-7FA8-4F30-8DEB-602E5386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A8A8A"/>
                </a:solidFill>
              </a:defRPr>
            </a:pPr>
            <a:r>
              <a:rPr sz="1200" b="1">
                <a:solidFill>
                  <a:srgbClr val="8A8A8A"/>
                </a:solidFill>
              </a:rPr>
              <a:t>AG-GRID FEATURE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22373-4DA5-4F3A-93A9-D9D4A0CC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AG-014 저장/검증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BD9A5-EDB5-453D-AD25-960C2C8B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C7C7"/>
          </a:solidFill>
          <a:ln xmlns:a="http://schemas.openxmlformats.org/drawingml/2006/main" w="0">
            <a:solidFill>
              <a:srgbClr val="C7C7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80A417-D9CC-48BD-BC17-342746D6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4762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94C04-3A85-498A-B13A-B6421EEF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Screen/Store/Script 저장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9F75D3-ECBD-47DA-874C-DC4A2725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441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실시간 저장 대신 수정 탭에 * 표시. Ctrl+S로 저장하면 * 제거. Script도 동일하게 저장 처리됨.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3B897D-9430-4E92-8646-51113036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4762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47223-69BF-45A7-91B6-3631172D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Table rows binding 검증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DD878E-0EB0-4EAF-9418-0D1494A9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441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rows binding이 배열이 아니면 Vue 런타임 오류가 발생하므로 저장 시 오류 메시지 대상으로 관리합니다.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67BB9C-9626-4F5D-B125-923A9AB5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52600"/>
            <a:ext cx="53340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24DCDD-BBF4-46CF-979B-370098CC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6690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5F8D"/>
                </a:solidFill>
              </a:defRPr>
            </a:pPr>
            <a:r>
              <a:rPr sz="1275" b="1">
                <a:solidFill>
                  <a:srgbClr val="0F5F8D"/>
                </a:solidFill>
              </a:rPr>
              <a:t>검증 명령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197FCB-6B08-4048-A21C-C2734D7C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52650"/>
            <a:ext cx="5029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npm run validate:screens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npm run generate:vue -- .src/pages/IndexPage.json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npm run build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9AA5AD-5941-4949-B6D7-F5144A25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38500"/>
            <a:ext cx="53340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B26848-6DFD-4522-B2CD-9A20A2A5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90900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정리할 내용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E9D7DF-4437-4FDB-8EBD-B3CB032E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33800"/>
            <a:ext cx="4991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검증 메시지를 사용자 친화적으로 표시할 위치: VS Code notification, Problems, 또는 Webview inline alert 중 선택.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F2623F-0361-4E05-B24C-A80DD15E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8A8A"/>
                </a:solidFill>
              </a:defRPr>
            </a:pPr>
            <a:r>
              <a:rPr sz="1050" b="0">
                <a:solidFill>
                  <a:srgbClr val="8A8A8A"/>
                </a:solidFill>
              </a:rPr>
              <a:t>quasar_tool / docs / ag-grid-feature-inventory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E893FF-9A79-4007-B7F6-DB39930C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A8A8A"/>
                </a:solidFill>
              </a:defRPr>
            </a:pPr>
            <a:r>
              <a:rPr sz="1200" b="1">
                <a:solidFill>
                  <a:srgbClr val="8A8A8A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6852544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732F9A-D310-4AEE-BE4A-6EF57B6A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A8A8A"/>
                </a:solidFill>
              </a:defRPr>
            </a:pPr>
            <a:r>
              <a:rPr sz="1200" b="1">
                <a:solidFill>
                  <a:srgbClr val="8A8A8A"/>
                </a:solidFill>
              </a:rPr>
              <a:t>AG-GRID FEATURE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09E992-B572-426E-838A-949E084B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AG-015 관련 파일 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368F2-6958-4826-AD69-8BEF2032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C7C7"/>
          </a:solidFill>
          <a:ln xmlns:a="http://schemas.openxmlformats.org/drawingml/2006/main" w="0">
            <a:solidFill>
              <a:srgbClr val="C7C7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30BE8-45EF-4A48-9C72-59F9E1ED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파일별 책임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8A69C-F7E5-4983-A74D-6D34C6CE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1049000" cy="480332"/>
          </a:xfrm>
          <a:prstGeom xmlns:a="http://schemas.openxmlformats.org/drawingml/2006/main" prst="roundRect">
            <a:avLst>
              <a:gd name="adj" fmla="val 11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AE22C2-4904-47AE-A49B-2C40F04E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59080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5F8D"/>
                </a:solidFill>
              </a:defRPr>
            </a:pPr>
            <a:r>
              <a:rPr sz="1200" b="1">
                <a:solidFill>
                  <a:srgbClr val="0F5F8D"/>
                </a:solidFill>
              </a:rPr>
              <a:t>tableView.js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15C6A-9ABF-4BC5-A82B-D2A13624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85950"/>
            <a:ext cx="809625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Table Wizard, Column Popup, parent/child tree, header field 편집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9E5FA-BA99-4A34-ABF5-E6AACF34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99607"/>
            <a:ext cx="11049000" cy="480332"/>
          </a:xfrm>
          <a:prstGeom xmlns:a="http://schemas.openxmlformats.org/drawingml/2006/main" prst="roundRect">
            <a:avLst>
              <a:gd name="adj" fmla="val 11898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D49F4B-137F-43DF-B81C-17C87E04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5807"/>
            <a:ext cx="259080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5F8D"/>
                </a:solidFill>
              </a:defRPr>
            </a:pPr>
            <a:r>
              <a:rPr sz="1200" b="1">
                <a:solidFill>
                  <a:srgbClr val="0F5F8D"/>
                </a:solidFill>
              </a:rPr>
              <a:t>propertiesView.js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44B551-5348-468E-B3A0-CB1108CA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75807"/>
            <a:ext cx="809625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Table 속성 패널: Basic/Data/Columns/Selection/Toolbar/Pagination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1212AE-5213-4F89-B966-41D5AE45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9464"/>
            <a:ext cx="11049000" cy="480332"/>
          </a:xfrm>
          <a:prstGeom xmlns:a="http://schemas.openxmlformats.org/drawingml/2006/main" prst="roundRect">
            <a:avLst>
              <a:gd name="adj" fmla="val 11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F9A4F5-804F-4BD1-A26A-276F8744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5664"/>
            <a:ext cx="259080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5F8D"/>
                </a:solidFill>
              </a:defRPr>
            </a:pPr>
            <a:r>
              <a:rPr sz="1200" b="1">
                <a:solidFill>
                  <a:srgbClr val="0F5F8D"/>
                </a:solidFill>
              </a:rPr>
              <a:t>webviews.js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0F467-DBD4-450A-A7CB-9F809361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65664"/>
            <a:ext cx="809625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Screen runtime preview, ag-grid preview props, header selection, body renderer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5D559B-C959-44D4-A8D8-E239DE8B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79321"/>
            <a:ext cx="11049000" cy="480332"/>
          </a:xfrm>
          <a:prstGeom xmlns:a="http://schemas.openxmlformats.org/drawingml/2006/main" prst="roundRect">
            <a:avLst>
              <a:gd name="adj" fmla="val 11898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BB2F77-8475-49A6-8B65-C845AA33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5521"/>
            <a:ext cx="259080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5F8D"/>
                </a:solidFill>
              </a:defRPr>
            </a:pPr>
            <a:r>
              <a:rPr sz="1200" b="1">
                <a:solidFill>
                  <a:srgbClr val="0F5F8D"/>
                </a:solidFill>
              </a:rPr>
              <a:t>state.js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20ECC3-3390-4696-A09C-0A145CE8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55521"/>
            <a:ext cx="809625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JSON 모델 갱신, normalizeTableColumns, rows binding 검증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D23C33-04A4-48EC-9439-E2AEDB14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9179"/>
            <a:ext cx="11049000" cy="480332"/>
          </a:xfrm>
          <a:prstGeom xmlns:a="http://schemas.openxmlformats.org/drawingml/2006/main" prst="roundRect">
            <a:avLst>
              <a:gd name="adj" fmla="val 11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88AC5E-F88A-4179-A0D8-EEAE9E46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5379"/>
            <a:ext cx="259080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5F8D"/>
                </a:solidFill>
              </a:defRPr>
            </a:pPr>
            <a:r>
              <a:rPr sz="1200" b="1">
                <a:solidFill>
                  <a:srgbClr val="0F5F8D"/>
                </a:solidFill>
              </a:rPr>
              <a:t>table-renderer.mjs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0DB1D8-11E6-4082-A79F-86EEF98C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845379"/>
            <a:ext cx="809625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Vue 생성 시 ag-grid-vue 태그와 columnDefs 생성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1F3183-68D3-4862-A427-08671702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59036"/>
            <a:ext cx="11049000" cy="480332"/>
          </a:xfrm>
          <a:prstGeom xmlns:a="http://schemas.openxmlformats.org/drawingml/2006/main" prst="roundRect">
            <a:avLst>
              <a:gd name="adj" fmla="val 11898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42359A-E669-4F98-8156-B20C8B26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5236"/>
            <a:ext cx="259080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5F8D"/>
                </a:solidFill>
              </a:defRPr>
            </a:pPr>
            <a:r>
              <a:rPr sz="1200" b="1">
                <a:solidFill>
                  <a:srgbClr val="0F5F8D"/>
                </a:solidFill>
              </a:rPr>
              <a:t>tableApi.js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E94D5E-01B3-4C9D-94C4-2826B57A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335236"/>
            <a:ext cx="809625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런타임 API, RCUD, keyboard, copy/paste, selection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5EFFD2-F84F-4E93-BF1C-43833295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48893"/>
            <a:ext cx="11049000" cy="480332"/>
          </a:xfrm>
          <a:prstGeom xmlns:a="http://schemas.openxmlformats.org/drawingml/2006/main" prst="roundRect">
            <a:avLst>
              <a:gd name="adj" fmla="val 118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D010E2-28C1-43EA-AFCF-B23207EC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5093"/>
            <a:ext cx="259080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5F8D"/>
                </a:solidFill>
              </a:defRPr>
            </a:pPr>
            <a:r>
              <a:rPr sz="1200" b="1">
                <a:solidFill>
                  <a:srgbClr val="0F5F8D"/>
                </a:solidFill>
              </a:rPr>
              <a:t>app.scss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544E1F-330A-44B7-A5B8-F6C756B5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825093"/>
            <a:ext cx="809625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브라우저 ag-grid 스타일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9EBB05-97B8-4C98-81DB-29BA2512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10490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87F069-0040-4BD5-829C-EBC88474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1070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유지보수 메모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5BDA88-A317-4D6B-B672-D8ABF555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15050"/>
            <a:ext cx="10706100" cy="-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큰 기능은 tableView.js/webviews.js/tableApi.js에 집중되어 있음. 다음 리팩토링 때 기능별 모듈 분리 후보로 관리.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E53412-9C3C-4175-B57B-582F6DF4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8A8A"/>
                </a:solidFill>
              </a:defRPr>
            </a:pPr>
            <a:r>
              <a:rPr sz="1050" b="0">
                <a:solidFill>
                  <a:srgbClr val="8A8A8A"/>
                </a:solidFill>
              </a:rPr>
              <a:t>quasar_tool / docs / ag-grid-feature-inventory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76CAEB-7343-4F6E-ACCF-D29F3109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A8A8A"/>
                </a:solidFill>
              </a:defRPr>
            </a:pPr>
            <a:r>
              <a:rPr sz="1200" b="1">
                <a:solidFill>
                  <a:srgbClr val="8A8A8A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36486028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1B47AC-DD67-42FB-838F-3C3C2684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A8A8A"/>
                </a:solidFill>
              </a:defRPr>
            </a:pPr>
            <a:r>
              <a:rPr sz="1200" b="1">
                <a:solidFill>
                  <a:srgbClr val="8A8A8A"/>
                </a:solidFill>
              </a:rPr>
              <a:t>AG-GRID FEATURE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EC7A4-E5CB-47FA-9FA9-F2BA0CFB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6675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AG-016 다음 정리용 체크리스트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32351-35DB-4A2D-AA32-C0BB1E6C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112014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C7C7"/>
          </a:solidFill>
          <a:ln xmlns:a="http://schemas.openxmlformats.org/drawingml/2006/main" w="0">
            <a:solidFill>
              <a:srgbClr val="C7C7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03456-27A7-4616-B82F-130ABE7B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715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70C7C-B686-4A89-9C29-673852AB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537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사용자가 결정할 항목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95162-8D5E-4FD9-826C-01A93ACB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53721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headerRows와 rowRows가 다를 때 body 표현 규칙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- 3줄 header/body의 parent field 매핑 방식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D mode 삭제 row 표시/숨김/즉시삭제 정책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Excel copy에서 header 포함 여부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server pagination과 request 이벤트의 표준 payload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actions 컬럼 버튼 구성과 이벤트 이름 규칙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BEE0FA-0358-491F-B894-8EB59486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52600"/>
            <a:ext cx="4572000" cy="1714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C7C7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9B3FF-FE21-464A-A4E5-0E7C81FA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66900"/>
            <a:ext cx="426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5F8D"/>
                </a:solidFill>
              </a:defRPr>
            </a:pPr>
            <a:r>
              <a:rPr sz="1275" b="1">
                <a:solidFill>
                  <a:srgbClr val="0F5F8D"/>
                </a:solidFill>
              </a:rPr>
              <a:t>다음 Codex 요청 예시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EC65AB-1D27-4E91-BD6F-9E89662E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52650"/>
            <a:ext cx="42672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이 PPT의 AG-013 기준으로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headerRows=3,rowRows=3일 때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parent field 매핑 규칙을 확정하고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table-renderer.mjs와 webviews.js에 반영해줘.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8923D5-A68F-496D-A395-252016E9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4572000" cy="952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6F1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AF5D24-FD60-4775-9C4D-514EAFAF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57650"/>
            <a:ext cx="422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권장 진행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C2BB10-938C-4461-8CC4-605423D4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0055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먼저 이 PPT에서 기능별 정책을 확정한 뒤, AG-xxx 단위로 하나씩 구현하면 회귀를 줄일 수 있습니다.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8049AC-85C9-4BAD-9685-2803A130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742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A8A8A"/>
                </a:solidFill>
              </a:defRPr>
            </a:pPr>
            <a:r>
              <a:rPr sz="1050" b="0">
                <a:solidFill>
                  <a:srgbClr val="8A8A8A"/>
                </a:solidFill>
              </a:rPr>
              <a:t>quasar_tool / docs / ag-grid-feature-inventory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F6A98E-E165-4692-AF10-F5D2514E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A8A8A"/>
                </a:solidFill>
              </a:defRPr>
            </a:pPr>
            <a:r>
              <a:rPr sz="1200" b="1">
                <a:solidFill>
                  <a:srgbClr val="8A8A8A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9222406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2026-06-29T01:17:12.6420000Z</dcterms:created>
  <dcterms:modified xsi:type="dcterms:W3CDTF">2026-06-29T01:17:12.6420000Z</dcterms:modified>
</coreProperties>
</file>