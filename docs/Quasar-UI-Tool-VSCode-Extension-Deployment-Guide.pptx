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자료의 목표: 배포 담당자가 마지막 체크리스트만 보고도 안전하게 새 버전을 게시할 수 있도록 한다.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확장 식별자는 displayName이 아니라 publisher + name 조합이다.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package.json의 files 배열을 기준으로 패키지 포함 범위를 설명한다.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한 줄을 반복 배포의 기억 장치로 사용한다.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npm version에 --no-git-tag-version을 사용하면 작업 중 저장소에 자동 태그를 만들지 않는다.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VSIX 파일명에 새 버전이 들어갔는지 확인한다. 비밀정보는 Marketplace 검사에서 차단될 수 있다.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Extension Development Host뿐 아니라 실제 설치된 확장으로 시험해야 패키지 누락을 발견할 수 있다.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Microsoft는 장기 자동화에서 Microsoft Entra ID 기반 인증을 권장한다. PAT를 문서나 저장소에 기록하지 않는다.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게시 직후 검색 반영에는 시간이 걸릴 수 있으므로 Marketplace 표시와 실제 설치를 모두 확인한다.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Remove는 통계와 이름 재사용에 영향을 줄 수 있으므로 문제 해결 수단으로 사용하지 않는다.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슬라이드만 열어도 반복 배포가 가능하다. 실제 게시 전에는 반드시 로컬 설치 시험을 완료한다.</a:t>
            </a:r>
          </a:p>
          <a:p>
            <a:endParaRPr/>
          </a:p>
          <a:p>
            <a:r>
              <a:t>[Sources]</a:t>
            </a:r>
          </a:p>
          <a:p>
            <a:r>
              <a:t>- Local project: vscode-extension/package.json, vscode-extension/CHANGELOG.md, docs/marketplace-publisher-info.md</a:t>
            </a:r>
          </a:p>
          <a:p>
            <a:r>
              <a:t>- Microsoft VS Code Extension API: https://code.visualstudio.com/api/working-with-extensions/publishing-extension</a:t>
            </a:r>
          </a:p>
          <a:p>
            <a:r>
              <a:t>- Microsoft VS Code docs: https://code.visualstudio.com/docs/configure/extensions/extension-marketplace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rcRect l="15278" r="15278"/>
          <a:stretch>
            <a:fillRect/>
          </a:stretch>
        </p:blipFill>
        <p:spPr>
          <a:xfrm>
            <a:off x="7429500" y="0"/>
            <a:ext cx="47625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25A9A36-0C21-4A76-83DF-4B93E98F1947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QUASAR UI TOOL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B00FB61-9E87-4C90-982B-E6B345D6C754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VS Code Extension</a:t>
            </a:r>
          </a:p>
          <a:p>
            <a:pPr algn="l">
              <a:defRPr sz="4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가이드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ABF4E6-C372-4A16-A45F-8EE014BDCE17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6381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수정 → 버전 → 설치 → 포장 → 시험 → 게시 → 확인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6E730D9-33D1-4E7B-9D87-2C15D72B994C}"/>
              </a:ext>
            </a:extLst>
          </p:cNvPr>
          <p:cNvSpPr>
            <a:spLocks noGrp="1"/>
          </p:cNvSpPr>
          <p:nvPr/>
        </p:nvSpPr>
        <p:spPr>
          <a:xfrm>
            <a:off x="533400" y="5048250"/>
            <a:ext cx="5334000" cy="685800"/>
          </a:xfrm>
          <a:prstGeom prst="roundRect">
            <a:avLst>
              <a:gd name="adj" fmla="val 16667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624EEA-2323-438D-B9D6-C6C616D9F6DB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반복 배포용 · ORUM.quasar-tool-vscode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711CFB-3FE8-461A-9BD2-4064DE924FDD}"/>
              </a:ext>
            </a:extLst>
          </p:cNvPr>
          <p:cNvSpPr>
            <a:spLocks noGrp="1"/>
          </p:cNvSpPr>
          <p:nvPr/>
        </p:nvSpPr>
        <p:spPr>
          <a:xfrm>
            <a:off x="533400" y="61531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49492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6C4C8233-DCBA-4C68-B396-4F05A16C106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전에 확장 ID 네 가지를 고정한다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208463A-A941-49BF-A57B-B7D95980FE22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F9CA6B-6F90-416C-A751-1D85AFE227A7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562100"/>
            <a:ext cx="2571750" cy="25717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74C1D37-FABF-40A1-B281-9706302B1AAF}"/>
              </a:ext>
            </a:extLst>
          </p:cNvPr>
          <p:cNvSpPr>
            <a:spLocks noGrp="1"/>
          </p:cNvSpPr>
          <p:nvPr/>
        </p:nvSpPr>
        <p:spPr>
          <a:xfrm>
            <a:off x="3810000" y="14668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Publisher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5D7E63-1302-4459-AF56-F088A68BD7C6}"/>
              </a:ext>
            </a:extLst>
          </p:cNvPr>
          <p:cNvSpPr>
            <a:spLocks noGrp="1"/>
          </p:cNvSpPr>
          <p:nvPr/>
        </p:nvSpPr>
        <p:spPr>
          <a:xfrm>
            <a:off x="6191250" y="14668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ORUM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030D00-6757-4E9A-917A-4977B26D5773}"/>
              </a:ext>
            </a:extLst>
          </p:cNvPr>
          <p:cNvSpPr>
            <a:spLocks noGrp="1"/>
          </p:cNvSpPr>
          <p:nvPr/>
        </p:nvSpPr>
        <p:spPr>
          <a:xfrm>
            <a:off x="3810000" y="2114550"/>
            <a:ext cx="7239000" cy="9525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9266AD-AD95-4E7C-840B-DDEF7C3339D2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84C36B-D9AE-4F72-9A9E-9E329F39FC9F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quasar-tool-vscode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B05C18-FE27-4250-8862-5CEBCBF90CDA}"/>
              </a:ext>
            </a:extLst>
          </p:cNvPr>
          <p:cNvSpPr>
            <a:spLocks noGrp="1"/>
          </p:cNvSpPr>
          <p:nvPr/>
        </p:nvSpPr>
        <p:spPr>
          <a:xfrm>
            <a:off x="3810000" y="3028950"/>
            <a:ext cx="7239000" cy="9525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167A6C-8A77-415E-9D4E-5EA9680CD785}"/>
              </a:ext>
            </a:extLst>
          </p:cNvPr>
          <p:cNvSpPr>
            <a:spLocks noGrp="1"/>
          </p:cNvSpPr>
          <p:nvPr/>
        </p:nvSpPr>
        <p:spPr>
          <a:xfrm>
            <a:off x="3810000" y="32956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Marketplace ID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09E9CEE-3B09-4CB9-A486-D8FFBB28A5EA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ORUM.quasar-tool-vscode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65E462-24DF-4CB7-B093-9F6DA383D5A6}"/>
              </a:ext>
            </a:extLst>
          </p:cNvPr>
          <p:cNvSpPr>
            <a:spLocks noGrp="1"/>
          </p:cNvSpPr>
          <p:nvPr/>
        </p:nvSpPr>
        <p:spPr>
          <a:xfrm>
            <a:off x="3810000" y="3943350"/>
            <a:ext cx="7239000" cy="9525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D6B9B6-E86E-49CD-8CB8-9441D1214610}"/>
              </a:ext>
            </a:extLst>
          </p:cNvPr>
          <p:cNvSpPr>
            <a:spLocks noGrp="1"/>
          </p:cNvSpPr>
          <p:nvPr/>
        </p:nvSpPr>
        <p:spPr>
          <a:xfrm>
            <a:off x="3810000" y="42100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현재 버전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373429-B4EC-4365-AEE3-212630C3289C}"/>
              </a:ext>
            </a:extLst>
          </p:cNvPr>
          <p:cNvSpPr>
            <a:spLocks noGrp="1"/>
          </p:cNvSpPr>
          <p:nvPr/>
        </p:nvSpPr>
        <p:spPr>
          <a:xfrm>
            <a:off x="6191250" y="421005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0.1.0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0342E44-89D5-4649-A531-5F7229E24E85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7239000" cy="9525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6CC9F24-0B6F-4823-ACE7-483EAAA021A0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10458450" cy="1047750"/>
          </a:xfrm>
          <a:prstGeom prst="roundRect">
            <a:avLst>
              <a:gd name="adj" fmla="val 10909"/>
            </a:avLst>
          </a:prstGeom>
          <a:solidFill>
            <a:srgbClr val="EAF5FF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60724A-1AAE-4FA7-898A-1FB61C9A810C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650" b="1">
                <a:solidFill>
                  <a:srgbClr val="071B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71B45"/>
                </a:solidFill>
                <a:latin typeface="Arial"/>
                <a:ea typeface="Arial"/>
                <a:cs typeface="Arial"/>
              </a:rPr>
              <a:t>publisher 또는 name을 바꾸면 기존 업데이트가 아니라 다른 확장으로 인식될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1315735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3281FE-5FE5-4558-B97C-2FEE2339A084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배포 대상은 루트 앱이 아니라 vscode-extension 폴더다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0A12FE-9137-48C2-9596-AEC07CB0CB5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357D8A5-6DEB-4D09-AC17-639A1E597FE5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D579B1-7793-4888-B1AF-9592EDB02446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657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650" b="1">
                <a:solidFill>
                  <a:srgbClr val="5F6B7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5F6B7A"/>
                </a:solidFill>
                <a:latin typeface="Consolas"/>
                <a:ea typeface="Consolas"/>
                <a:cs typeface="Consolas"/>
              </a:rPr>
              <a:t>D:\01 PROJECTSRC\codex\quasar_tool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693E92-6D7A-43D9-947F-9B780F46BE9A}"/>
              </a:ext>
            </a:extLst>
          </p:cNvPr>
          <p:cNvSpPr>
            <a:spLocks noGrp="1"/>
          </p:cNvSpPr>
          <p:nvPr/>
        </p:nvSpPr>
        <p:spPr>
          <a:xfrm>
            <a:off x="704850" y="18669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quasar_tool/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7C04B5-3B49-40A3-8EF5-EF9860D2779E}"/>
              </a:ext>
            </a:extLst>
          </p:cNvPr>
          <p:cNvSpPr>
            <a:spLocks noGrp="1"/>
          </p:cNvSpPr>
          <p:nvPr/>
        </p:nvSpPr>
        <p:spPr>
          <a:xfrm>
            <a:off x="704850" y="22764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0">
                <a:solidFill>
                  <a:srgbClr val="5F6B7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F6B7A"/>
                </a:solidFill>
                <a:latin typeface="Consolas"/>
                <a:ea typeface="Consolas"/>
                <a:cs typeface="Consolas"/>
              </a:rPr>
              <a:t>   └─ src/              ← Quasar 웹 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ECFCEA-50E0-4ADE-B541-BCCF1C6A3ECD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2F80ED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   └─ vscode-extension/  ← 배포 시작점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0623212-EDB0-4096-A347-8D07CEC66E4D}"/>
              </a:ext>
            </a:extLst>
          </p:cNvPr>
          <p:cNvSpPr>
            <a:spLocks noGrp="1"/>
          </p:cNvSpPr>
          <p:nvPr/>
        </p:nvSpPr>
        <p:spPr>
          <a:xfrm>
            <a:off x="704850" y="30956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src/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40C8EB-1131-47B6-9771-3A74AC7A1319}"/>
              </a:ext>
            </a:extLst>
          </p:cNvPr>
          <p:cNvSpPr>
            <a:spLocks noGrp="1"/>
          </p:cNvSpPr>
          <p:nvPr/>
        </p:nvSpPr>
        <p:spPr>
          <a:xfrm>
            <a:off x="704850" y="35052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generator/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9086CB-F1C5-4C4C-BD6D-60292DE03956}"/>
              </a:ext>
            </a:extLst>
          </p:cNvPr>
          <p:cNvSpPr>
            <a:spLocks noGrp="1"/>
          </p:cNvSpPr>
          <p:nvPr/>
        </p:nvSpPr>
        <p:spPr>
          <a:xfrm>
            <a:off x="704850" y="39147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templates/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433830-383E-44BD-9BAE-7F8FC89B77F5}"/>
              </a:ext>
            </a:extLst>
          </p:cNvPr>
          <p:cNvSpPr>
            <a:spLocks noGrp="1"/>
          </p:cNvSpPr>
          <p:nvPr/>
        </p:nvSpPr>
        <p:spPr>
          <a:xfrm>
            <a:off x="704850" y="43243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media/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314E5-43B5-4494-93D8-A187D7E99EA0}"/>
              </a:ext>
            </a:extLst>
          </p:cNvPr>
          <p:cNvSpPr>
            <a:spLocks noGrp="1"/>
          </p:cNvSpPr>
          <p:nvPr/>
        </p:nvSpPr>
        <p:spPr>
          <a:xfrm>
            <a:off x="704850" y="473392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package.json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CFBEB2-4FFB-49E4-A96F-283D773EBB42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      └─ CHANGELOG.md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E62A42D-7184-4A80-9E19-F607DCDB6A74}"/>
              </a:ext>
            </a:extLst>
          </p:cNvPr>
          <p:cNvSpPr>
            <a:spLocks noGrp="1"/>
          </p:cNvSpPr>
          <p:nvPr/>
        </p:nvSpPr>
        <p:spPr>
          <a:xfrm>
            <a:off x="7505700" y="1581150"/>
            <a:ext cx="3714750" cy="3600450"/>
          </a:xfrm>
          <a:prstGeom prst="roundRect">
            <a:avLst>
              <a:gd name="adj" fmla="val 3175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DE5B5C-FF7B-4C4D-8001-4E7EAA42BB63}"/>
              </a:ext>
            </a:extLst>
          </p:cNvPr>
          <p:cNvSpPr>
            <a:spLocks noGrp="1"/>
          </p:cNvSpPr>
          <p:nvPr/>
        </p:nvSpPr>
        <p:spPr>
          <a:xfrm>
            <a:off x="7810500" y="1847850"/>
            <a:ext cx="3105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패키지에 포함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567DFFA-FAE7-497E-868B-C96555C0A364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8C8FF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38B725B-D3B0-4C81-AE4F-068E5185BA76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src/**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A86BDF1-9250-4910-89E0-F94683206BD4}"/>
              </a:ext>
            </a:extLst>
          </p:cNvPr>
          <p:cNvSpPr>
            <a:spLocks noGrp="1"/>
          </p:cNvSpPr>
          <p:nvPr/>
        </p:nvSpPr>
        <p:spPr>
          <a:xfrm>
            <a:off x="7810500" y="28860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8C8FF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5A6897-EEA9-4BC8-88FE-542ADF6DB521}"/>
              </a:ext>
            </a:extLst>
          </p:cNvPr>
          <p:cNvSpPr>
            <a:spLocks noGrp="1"/>
          </p:cNvSpPr>
          <p:nvPr/>
        </p:nvSpPr>
        <p:spPr>
          <a:xfrm>
            <a:off x="8115300" y="27813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generator/**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82E3A24-30E3-477D-8CEC-E3B0D605318E}"/>
              </a:ext>
            </a:extLst>
          </p:cNvPr>
          <p:cNvSpPr>
            <a:spLocks noGrp="1"/>
          </p:cNvSpPr>
          <p:nvPr/>
        </p:nvSpPr>
        <p:spPr>
          <a:xfrm>
            <a:off x="7810500" y="3314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8C8FF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1615943-FD34-4044-A6D4-2ED49DD3C43D}"/>
              </a:ext>
            </a:extLst>
          </p:cNvPr>
          <p:cNvSpPr>
            <a:spLocks noGrp="1"/>
          </p:cNvSpPr>
          <p:nvPr/>
        </p:nvSpPr>
        <p:spPr>
          <a:xfrm>
            <a:off x="8115300" y="320992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templates/**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3C785D6-2ABB-483C-A730-5197313EA87C}"/>
              </a:ext>
            </a:extLst>
          </p:cNvPr>
          <p:cNvSpPr>
            <a:spLocks noGrp="1"/>
          </p:cNvSpPr>
          <p:nvPr/>
        </p:nvSpPr>
        <p:spPr>
          <a:xfrm>
            <a:off x="7810500" y="37433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8C8FF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764944-4598-46A8-90B7-6D0940D4FCFA}"/>
              </a:ext>
            </a:extLst>
          </p:cNvPr>
          <p:cNvSpPr>
            <a:spLocks noGrp="1"/>
          </p:cNvSpPr>
          <p:nvPr/>
        </p:nvSpPr>
        <p:spPr>
          <a:xfrm>
            <a:off x="8115300" y="36385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media/**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375FA03-181D-4133-AD28-A923B45E4468}"/>
              </a:ext>
            </a:extLst>
          </p:cNvPr>
          <p:cNvSpPr>
            <a:spLocks noGrp="1"/>
          </p:cNvSpPr>
          <p:nvPr/>
        </p:nvSpPr>
        <p:spPr>
          <a:xfrm>
            <a:off x="7810500" y="41719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310A98-077C-442A-AF8E-408CA1B038E7}"/>
              </a:ext>
            </a:extLst>
          </p:cNvPr>
          <p:cNvSpPr>
            <a:spLocks noGrp="1"/>
          </p:cNvSpPr>
          <p:nvPr/>
        </p:nvSpPr>
        <p:spPr>
          <a:xfrm>
            <a:off x="8115300" y="4067175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README.md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5240FA4-BB64-4346-B672-3BE826A7487A}"/>
              </a:ext>
            </a:extLst>
          </p:cNvPr>
          <p:cNvSpPr>
            <a:spLocks noGrp="1"/>
          </p:cNvSpPr>
          <p:nvPr/>
        </p:nvSpPr>
        <p:spPr>
          <a:xfrm>
            <a:off x="7810500" y="4600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386C0B9-0649-4C89-98C8-35312238E377}"/>
              </a:ext>
            </a:extLst>
          </p:cNvPr>
          <p:cNvSpPr>
            <a:spLocks noGrp="1"/>
          </p:cNvSpPr>
          <p:nvPr/>
        </p:nvSpPr>
        <p:spPr>
          <a:xfrm>
            <a:off x="8115300" y="44958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CHANGELOG.md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40590A-BFDD-44F2-B13D-C94766069DD2}"/>
              </a:ext>
            </a:extLst>
          </p:cNvPr>
          <p:cNvSpPr>
            <a:spLocks noGrp="1"/>
          </p:cNvSpPr>
          <p:nvPr/>
        </p:nvSpPr>
        <p:spPr>
          <a:xfrm>
            <a:off x="7524750" y="539115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루트 src/pages 수정만으로는</a:t>
            </a:r>
          </a:p>
          <a:p>
            <a:pPr algn="ctr">
              <a:defRPr sz="1500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확장 배포물에 자동 반영되지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1789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6005A2-7F91-43AE-A2DF-382CBF3959F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반복 배포는 일곱 단계만 기억하면 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A04F66-1C77-435B-B015-62453B1C727C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D4926C-DC15-4116-8B88-412AAE1CA41D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32082D-2746-4EAD-9C4B-C12A7AE10537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10668000" cy="3810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C06F659-81ED-4F5F-91FA-5E881DC21419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ABAB08-6843-4ADA-8313-FFCAD280798F}"/>
              </a:ext>
            </a:extLst>
          </p:cNvPr>
          <p:cNvSpPr>
            <a:spLocks noGrp="1"/>
          </p:cNvSpPr>
          <p:nvPr/>
        </p:nvSpPr>
        <p:spPr>
          <a:xfrm>
            <a:off x="72390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50BA13-6829-4946-9803-687F5EF41234}"/>
              </a:ext>
            </a:extLst>
          </p:cNvPr>
          <p:cNvSpPr>
            <a:spLocks noGrp="1"/>
          </p:cNvSpPr>
          <p:nvPr/>
        </p:nvSpPr>
        <p:spPr>
          <a:xfrm>
            <a:off x="32385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수정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964FF72-9C5C-4127-9C8F-1429A775FF65}"/>
              </a:ext>
            </a:extLst>
          </p:cNvPr>
          <p:cNvSpPr>
            <a:spLocks noGrp="1"/>
          </p:cNvSpPr>
          <p:nvPr/>
        </p:nvSpPr>
        <p:spPr>
          <a:xfrm>
            <a:off x="234315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D77468-6FDB-4353-B272-7AFAC0D0F4F6}"/>
              </a:ext>
            </a:extLst>
          </p:cNvPr>
          <p:cNvSpPr>
            <a:spLocks noGrp="1"/>
          </p:cNvSpPr>
          <p:nvPr/>
        </p:nvSpPr>
        <p:spPr>
          <a:xfrm>
            <a:off x="234315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025F93-981C-43C1-B729-203CCCA071F1}"/>
              </a:ext>
            </a:extLst>
          </p:cNvPr>
          <p:cNvSpPr>
            <a:spLocks noGrp="1"/>
          </p:cNvSpPr>
          <p:nvPr/>
        </p:nvSpPr>
        <p:spPr>
          <a:xfrm>
            <a:off x="194310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버전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4755C6-E6ED-4D27-9570-E825F05B06E1}"/>
              </a:ext>
            </a:extLst>
          </p:cNvPr>
          <p:cNvSpPr>
            <a:spLocks noGrp="1"/>
          </p:cNvSpPr>
          <p:nvPr/>
        </p:nvSpPr>
        <p:spPr>
          <a:xfrm>
            <a:off x="396240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18C8FF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D84D07-D1B9-4352-87FC-C230FA56C835}"/>
              </a:ext>
            </a:extLst>
          </p:cNvPr>
          <p:cNvSpPr>
            <a:spLocks noGrp="1"/>
          </p:cNvSpPr>
          <p:nvPr/>
        </p:nvSpPr>
        <p:spPr>
          <a:xfrm>
            <a:off x="396240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AC89C8-64AB-453B-82DC-10F57DE6F95E}"/>
              </a:ext>
            </a:extLst>
          </p:cNvPr>
          <p:cNvSpPr>
            <a:spLocks noGrp="1"/>
          </p:cNvSpPr>
          <p:nvPr/>
        </p:nvSpPr>
        <p:spPr>
          <a:xfrm>
            <a:off x="356235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설치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8741F78-9429-43E2-ABE8-29CA6EF61A5D}"/>
              </a:ext>
            </a:extLst>
          </p:cNvPr>
          <p:cNvSpPr>
            <a:spLocks noGrp="1"/>
          </p:cNvSpPr>
          <p:nvPr/>
        </p:nvSpPr>
        <p:spPr>
          <a:xfrm>
            <a:off x="558165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89AB6E-F215-40C2-952E-B00D9E502B32}"/>
              </a:ext>
            </a:extLst>
          </p:cNvPr>
          <p:cNvSpPr>
            <a:spLocks noGrp="1"/>
          </p:cNvSpPr>
          <p:nvPr/>
        </p:nvSpPr>
        <p:spPr>
          <a:xfrm>
            <a:off x="558165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56CC0D-186C-4379-AEE2-31EC25396E49}"/>
              </a:ext>
            </a:extLst>
          </p:cNvPr>
          <p:cNvSpPr>
            <a:spLocks noGrp="1"/>
          </p:cNvSpPr>
          <p:nvPr/>
        </p:nvSpPr>
        <p:spPr>
          <a:xfrm>
            <a:off x="518160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포장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BCA9294-BD5D-4AEB-B038-40F8EB0B35C0}"/>
              </a:ext>
            </a:extLst>
          </p:cNvPr>
          <p:cNvSpPr>
            <a:spLocks noGrp="1"/>
          </p:cNvSpPr>
          <p:nvPr/>
        </p:nvSpPr>
        <p:spPr>
          <a:xfrm>
            <a:off x="720090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98B4FC-89F0-434C-BEB8-505CFCA8CF34}"/>
              </a:ext>
            </a:extLst>
          </p:cNvPr>
          <p:cNvSpPr>
            <a:spLocks noGrp="1"/>
          </p:cNvSpPr>
          <p:nvPr/>
        </p:nvSpPr>
        <p:spPr>
          <a:xfrm>
            <a:off x="720090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A15D51-F3AC-4309-8284-8F2B2C9F12C1}"/>
              </a:ext>
            </a:extLst>
          </p:cNvPr>
          <p:cNvSpPr>
            <a:spLocks noGrp="1"/>
          </p:cNvSpPr>
          <p:nvPr/>
        </p:nvSpPr>
        <p:spPr>
          <a:xfrm>
            <a:off x="680085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시험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67AEBED-313E-4E29-8AE0-135B03057664}"/>
              </a:ext>
            </a:extLst>
          </p:cNvPr>
          <p:cNvSpPr>
            <a:spLocks noGrp="1"/>
          </p:cNvSpPr>
          <p:nvPr/>
        </p:nvSpPr>
        <p:spPr>
          <a:xfrm>
            <a:off x="882015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8B5CF6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761FAA1-814C-4A33-860D-37CD2D82AB51}"/>
              </a:ext>
            </a:extLst>
          </p:cNvPr>
          <p:cNvSpPr>
            <a:spLocks noGrp="1"/>
          </p:cNvSpPr>
          <p:nvPr/>
        </p:nvSpPr>
        <p:spPr>
          <a:xfrm>
            <a:off x="882015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0E12B1-59BC-4730-AFB7-9915C475DE01}"/>
              </a:ext>
            </a:extLst>
          </p:cNvPr>
          <p:cNvSpPr>
            <a:spLocks noGrp="1"/>
          </p:cNvSpPr>
          <p:nvPr/>
        </p:nvSpPr>
        <p:spPr>
          <a:xfrm>
            <a:off x="842010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게시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D8785DA-1127-4F5A-A45E-1C8BEBF461AA}"/>
              </a:ext>
            </a:extLst>
          </p:cNvPr>
          <p:cNvSpPr>
            <a:spLocks noGrp="1"/>
          </p:cNvSpPr>
          <p:nvPr/>
        </p:nvSpPr>
        <p:spPr>
          <a:xfrm>
            <a:off x="10439400" y="2457450"/>
            <a:ext cx="781050" cy="781050"/>
          </a:xfrm>
          <a:prstGeom prst="roundRect">
            <a:avLst>
              <a:gd name="adj" fmla="val 14634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F628B03-8926-4CD2-90C2-FAA9FEF560FD}"/>
              </a:ext>
            </a:extLst>
          </p:cNvPr>
          <p:cNvSpPr>
            <a:spLocks noGrp="1"/>
          </p:cNvSpPr>
          <p:nvPr/>
        </p:nvSpPr>
        <p:spPr>
          <a:xfrm>
            <a:off x="10439400" y="2457450"/>
            <a:ext cx="781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2ADF3CD-0EBD-45FB-997D-9E4773411A2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확인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06B42F-BC87-4F2B-A63E-1F2CF4A9027C}"/>
              </a:ext>
            </a:extLst>
          </p:cNvPr>
          <p:cNvSpPr>
            <a:spLocks noGrp="1"/>
          </p:cNvSpPr>
          <p:nvPr/>
        </p:nvSpPr>
        <p:spPr>
          <a:xfrm>
            <a:off x="1219200" y="4762500"/>
            <a:ext cx="975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앞 단계가 확인되지 않으면 다음 단계로 넘어가지 않는다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5EE0D80-CD77-4963-B326-3B36A78AB1C3}"/>
              </a:ext>
            </a:extLst>
          </p:cNvPr>
          <p:cNvSpPr>
            <a:spLocks noGrp="1"/>
          </p:cNvSpPr>
          <p:nvPr/>
        </p:nvSpPr>
        <p:spPr>
          <a:xfrm>
            <a:off x="2057400" y="5657850"/>
            <a:ext cx="8077200" cy="419100"/>
          </a:xfrm>
          <a:prstGeom prst="roundRect">
            <a:avLst>
              <a:gd name="adj" fmla="val 27273"/>
            </a:avLst>
          </a:prstGeom>
          <a:solidFill>
            <a:srgbClr val="EAF5FF"/>
          </a:solidFill>
          <a:ln w="0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C24DFF2-66A7-45AE-992E-8BEE7DA6D016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수정 → 버전 → 설치 → 포장 → 시험 → 게시 → 확인</a:t>
            </a:r>
          </a:p>
        </p:txBody>
      </p:sp>
    </p:spTree>
    <p:extLst>
      <p:ext uri="{BB962C8B-B14F-4D97-AF65-F5344CB8AC3E}">
        <p14:creationId xmlns:p14="http://schemas.microsoft.com/office/powerpoint/2010/main" val="221877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C5C3F39-6A46-4DA9-90D1-AB8D6DD945A6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변경 기록을 먼저 쓰고 버전을 한 칸 올린다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8CD723-0ADE-4BFA-BFE0-DF3455011B1B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7BE535-793E-4788-9AA7-67FFE39C3A49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C028079-B5FB-442E-A612-1A9905EB5278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7048500" cy="3257550"/>
          </a:xfrm>
          <a:prstGeom prst="roundRect">
            <a:avLst>
              <a:gd name="adj" fmla="val 3509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C7EBCFC-7CF2-4137-B4CC-013BBF4A1C64}"/>
              </a:ext>
            </a:extLst>
          </p:cNvPr>
          <p:cNvSpPr>
            <a:spLocks noGrp="1"/>
          </p:cNvSpPr>
          <p:nvPr/>
        </p:nvSpPr>
        <p:spPr>
          <a:xfrm>
            <a:off x="533400" y="1390650"/>
            <a:ext cx="7048500" cy="400050"/>
          </a:xfrm>
          <a:prstGeom prst="roundRect">
            <a:avLst>
              <a:gd name="adj" fmla="val 28571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D8B10DC-77B4-42F6-B882-E02F6D5E45F0}"/>
              </a:ext>
            </a:extLst>
          </p:cNvPr>
          <p:cNvSpPr>
            <a:spLocks noGrp="1"/>
          </p:cNvSpPr>
          <p:nvPr/>
        </p:nvSpPr>
        <p:spPr>
          <a:xfrm>
            <a:off x="704850" y="1524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DE77264-1B40-4981-82A1-D5E077040D1A}"/>
              </a:ext>
            </a:extLst>
          </p:cNvPr>
          <p:cNvSpPr>
            <a:spLocks noGrp="1"/>
          </p:cNvSpPr>
          <p:nvPr/>
        </p:nvSpPr>
        <p:spPr>
          <a:xfrm>
            <a:off x="933450" y="1524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AAE9BA-ACBC-4C16-8DEC-F8CB23882B6C}"/>
              </a:ext>
            </a:extLst>
          </p:cNvPr>
          <p:cNvSpPr>
            <a:spLocks noGrp="1"/>
          </p:cNvSpPr>
          <p:nvPr/>
        </p:nvSpPr>
        <p:spPr>
          <a:xfrm>
            <a:off x="1162050" y="1524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D51404-6526-4B99-BF4C-C01888A25514}"/>
              </a:ext>
            </a:extLst>
          </p:cNvPr>
          <p:cNvSpPr>
            <a:spLocks noGrp="1"/>
          </p:cNvSpPr>
          <p:nvPr/>
        </p:nvSpPr>
        <p:spPr>
          <a:xfrm>
            <a:off x="1485900" y="14573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8FF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EAF58E-6F8C-4524-9210-11DEB0FDAAD6}"/>
              </a:ext>
            </a:extLst>
          </p:cNvPr>
          <p:cNvSpPr>
            <a:spLocks noGrp="1"/>
          </p:cNvSpPr>
          <p:nvPr/>
        </p:nvSpPr>
        <p:spPr>
          <a:xfrm>
            <a:off x="800100" y="1943100"/>
            <a:ext cx="651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cd "D:\01 PROJECTSRC\codex\quasar_tool\vscode-extension"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903378-FF27-423F-BC66-6497920BE198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651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git status --short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660CC3-E622-43BC-8AE2-07AE9238562D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651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npm pkg get version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9514DC-BB2C-4FD3-AA8F-83E68D8A982B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651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npm version patch --no-git-tag-version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283B705-0678-4571-9B88-5BEB02569EDD}"/>
              </a:ext>
            </a:extLst>
          </p:cNvPr>
          <p:cNvSpPr>
            <a:spLocks noGrp="1"/>
          </p:cNvSpPr>
          <p:nvPr/>
        </p:nvSpPr>
        <p:spPr>
          <a:xfrm>
            <a:off x="8096250" y="14287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BA8BC8-667D-4B29-9447-BEB6F8C6B8D7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버전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C6760B-416A-4B2C-809C-9D3065AD2CAD}"/>
              </a:ext>
            </a:extLst>
          </p:cNvPr>
          <p:cNvSpPr>
            <a:spLocks noGrp="1"/>
          </p:cNvSpPr>
          <p:nvPr/>
        </p:nvSpPr>
        <p:spPr>
          <a:xfrm>
            <a:off x="8382000" y="230505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PATCH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BB73DE-DAF7-4F12-942C-4E32A1081644}"/>
              </a:ext>
            </a:extLst>
          </p:cNvPr>
          <p:cNvSpPr>
            <a:spLocks noGrp="1"/>
          </p:cNvSpPr>
          <p:nvPr/>
        </p:nvSpPr>
        <p:spPr>
          <a:xfrm>
            <a:off x="9258300" y="2257425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0.1.0 → 0.1.1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B97D13-B9C0-4273-B231-3C886B0E8CC3}"/>
              </a:ext>
            </a:extLst>
          </p:cNvPr>
          <p:cNvSpPr>
            <a:spLocks noGrp="1"/>
          </p:cNvSpPr>
          <p:nvPr/>
        </p:nvSpPr>
        <p:spPr>
          <a:xfrm>
            <a:off x="9258300" y="25336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버그 수정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5E48590-C116-4C39-9D7B-3D02ABA0304C}"/>
              </a:ext>
            </a:extLst>
          </p:cNvPr>
          <p:cNvSpPr>
            <a:spLocks noGrp="1"/>
          </p:cNvSpPr>
          <p:nvPr/>
        </p:nvSpPr>
        <p:spPr>
          <a:xfrm>
            <a:off x="8382000" y="299085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MINOR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529E44-758D-4169-A771-2090AF9BC0A4}"/>
              </a:ext>
            </a:extLst>
          </p:cNvPr>
          <p:cNvSpPr>
            <a:spLocks noGrp="1"/>
          </p:cNvSpPr>
          <p:nvPr/>
        </p:nvSpPr>
        <p:spPr>
          <a:xfrm>
            <a:off x="9258300" y="2943225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0.1.1 → 0.2.0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BB6D92-3492-4639-AF70-652F73CD03C7}"/>
              </a:ext>
            </a:extLst>
          </p:cNvPr>
          <p:cNvSpPr>
            <a:spLocks noGrp="1"/>
          </p:cNvSpPr>
          <p:nvPr/>
        </p:nvSpPr>
        <p:spPr>
          <a:xfrm>
            <a:off x="9258300" y="3219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기능 추가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632C3E-55FC-412C-B37E-1A40EF8C2449}"/>
              </a:ext>
            </a:extLst>
          </p:cNvPr>
          <p:cNvSpPr>
            <a:spLocks noGrp="1"/>
          </p:cNvSpPr>
          <p:nvPr/>
        </p:nvSpPr>
        <p:spPr>
          <a:xfrm>
            <a:off x="8382000" y="3676650"/>
            <a:ext cx="80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MAJOR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321A50-F22D-4051-9A1D-E96FE615FB79}"/>
              </a:ext>
            </a:extLst>
          </p:cNvPr>
          <p:cNvSpPr>
            <a:spLocks noGrp="1"/>
          </p:cNvSpPr>
          <p:nvPr/>
        </p:nvSpPr>
        <p:spPr>
          <a:xfrm>
            <a:off x="9258300" y="3629025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0.2.0 → 1.0.0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EE01CB-1A16-429B-AA22-19075193CDFC}"/>
              </a:ext>
            </a:extLst>
          </p:cNvPr>
          <p:cNvSpPr>
            <a:spLocks noGrp="1"/>
          </p:cNvSpPr>
          <p:nvPr/>
        </p:nvSpPr>
        <p:spPr>
          <a:xfrm>
            <a:off x="9258300" y="39052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호환성 변경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E74BE1E-79D4-4681-B44C-762DC719FA76}"/>
              </a:ext>
            </a:extLst>
          </p:cNvPr>
          <p:cNvSpPr>
            <a:spLocks noGrp="1"/>
          </p:cNvSpPr>
          <p:nvPr/>
        </p:nvSpPr>
        <p:spPr>
          <a:xfrm>
            <a:off x="533400" y="5067300"/>
            <a:ext cx="10706100" cy="838200"/>
          </a:xfrm>
          <a:prstGeom prst="roundRect">
            <a:avLst>
              <a:gd name="adj" fmla="val 13636"/>
            </a:avLst>
          </a:prstGeom>
          <a:solidFill>
            <a:srgbClr val="FFF7E8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6B4800-4CDA-4689-B0A6-1BDA469BA417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0210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CHANGELOG.md의 새 버전 제목과 package.json 버전이 반드시 같아야 한다.</a:t>
            </a:r>
          </a:p>
        </p:txBody>
      </p:sp>
    </p:spTree>
    <p:extLst>
      <p:ext uri="{BB962C8B-B14F-4D97-AF65-F5344CB8AC3E}">
        <p14:creationId xmlns:p14="http://schemas.microsoft.com/office/powerpoint/2010/main" val="168934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FEC80134-6C74-4222-A725-A724B187C2C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깨끗하게 설치한 뒤 새 VSIX를 만든다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82EE14-9C22-48C3-B623-70F3D00766C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A8A5F3-6F7E-4C8D-83AA-E3C05330B3DA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69546A3-EFE8-43F4-AC1F-A7217DCC07F3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7239000" cy="3943350"/>
          </a:xfrm>
          <a:prstGeom prst="roundRect">
            <a:avLst>
              <a:gd name="adj" fmla="val 2899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B02DD8F-CAE8-44D3-BBE7-4A43FB291F98}"/>
              </a:ext>
            </a:extLst>
          </p:cNvPr>
          <p:cNvSpPr>
            <a:spLocks noGrp="1"/>
          </p:cNvSpPr>
          <p:nvPr/>
        </p:nvSpPr>
        <p:spPr>
          <a:xfrm>
            <a:off x="533400" y="1409700"/>
            <a:ext cx="7239000" cy="400050"/>
          </a:xfrm>
          <a:prstGeom prst="roundRect">
            <a:avLst>
              <a:gd name="adj" fmla="val 28571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A45791-7A29-4A09-91E0-CDB605654BBC}"/>
              </a:ext>
            </a:extLst>
          </p:cNvPr>
          <p:cNvSpPr>
            <a:spLocks noGrp="1"/>
          </p:cNvSpPr>
          <p:nvPr/>
        </p:nvSpPr>
        <p:spPr>
          <a:xfrm>
            <a:off x="704850" y="1543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1CCC05F-AFDF-445D-A1C8-B0A32855FE28}"/>
              </a:ext>
            </a:extLst>
          </p:cNvPr>
          <p:cNvSpPr>
            <a:spLocks noGrp="1"/>
          </p:cNvSpPr>
          <p:nvPr/>
        </p:nvSpPr>
        <p:spPr>
          <a:xfrm>
            <a:off x="933450" y="1543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01F77B-0746-4B7E-AAFA-CF0D07EC374A}"/>
              </a:ext>
            </a:extLst>
          </p:cNvPr>
          <p:cNvSpPr>
            <a:spLocks noGrp="1"/>
          </p:cNvSpPr>
          <p:nvPr/>
        </p:nvSpPr>
        <p:spPr>
          <a:xfrm>
            <a:off x="1162050" y="1543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B4C419-8140-4E58-B5B6-69C2345949FD}"/>
              </a:ext>
            </a:extLst>
          </p:cNvPr>
          <p:cNvSpPr>
            <a:spLocks noGrp="1"/>
          </p:cNvSpPr>
          <p:nvPr/>
        </p:nvSpPr>
        <p:spPr>
          <a:xfrm>
            <a:off x="1485900" y="1476375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8FF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8213E4-FF93-4C81-ABC5-3B1E75790108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670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npm ci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32F639-A90F-428C-BFAE-3175B845456A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670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npx --yes @vscode/vsce package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567AE0-0CE8-46EF-B777-8561E6DAD20F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670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2192CA-3233-4391-826D-8370B938A0EC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670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72D6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72D6FF"/>
                </a:solidFill>
                <a:latin typeface="Consolas"/>
                <a:ea typeface="Consolas"/>
                <a:cs typeface="Consolas"/>
              </a:rPr>
              <a:t># 생성 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E2CE587-2247-469C-809F-6D4B391B39EB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670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quasar-tool-vscode-0.1.1.vsix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CB716D-2D5E-42B1-B76E-AA543FD6A8A2}"/>
              </a:ext>
            </a:extLst>
          </p:cNvPr>
          <p:cNvSpPr>
            <a:spLocks noGrp="1"/>
          </p:cNvSpPr>
          <p:nvPr/>
        </p:nvSpPr>
        <p:spPr>
          <a:xfrm>
            <a:off x="8229600" y="1504950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패키징 성공 조건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A984BD0-E054-471D-8911-1149078DE921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DDF6EC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EDFEAA-3554-4CAB-9B16-93F54E23EFDF}"/>
              </a:ext>
            </a:extLst>
          </p:cNvPr>
          <p:cNvSpPr>
            <a:spLocks noGrp="1"/>
          </p:cNvSpPr>
          <p:nvPr/>
        </p:nvSpPr>
        <p:spPr>
          <a:xfrm>
            <a:off x="8267700" y="21336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0A4EB7-8973-4954-AF98-AA7AD4C79178}"/>
              </a:ext>
            </a:extLst>
          </p:cNvPr>
          <p:cNvSpPr>
            <a:spLocks noGrp="1"/>
          </p:cNvSpPr>
          <p:nvPr/>
        </p:nvSpPr>
        <p:spPr>
          <a:xfrm>
            <a:off x="8705850" y="20764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오류가 없다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B1A49E-62EC-4CA1-864B-32F4048CCD72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DDF6EC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73AACDA-85B3-4F62-9689-48A9248E9C4F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55DBBD-0365-48C1-8414-D4BF8139E19F}"/>
              </a:ext>
            </a:extLst>
          </p:cNvPr>
          <p:cNvSpPr>
            <a:spLocks noGrp="1"/>
          </p:cNvSpPr>
          <p:nvPr/>
        </p:nvSpPr>
        <p:spPr>
          <a:xfrm>
            <a:off x="8705850" y="266700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새 버전 파일이다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646157E-580E-4F48-A4E4-F79FB58B03C5}"/>
              </a:ext>
            </a:extLst>
          </p:cNvPr>
          <p:cNvSpPr>
            <a:spLocks noGrp="1"/>
          </p:cNvSpPr>
          <p:nvPr/>
        </p:nvSpPr>
        <p:spPr>
          <a:xfrm>
            <a:off x="8267700" y="33147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DDF6EC"/>
          </a:solidFill>
          <a:ln w="0">
            <a:noFill/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FAA80-434B-4681-9335-43A940B513EE}"/>
              </a:ext>
            </a:extLst>
          </p:cNvPr>
          <p:cNvSpPr>
            <a:spLocks noGrp="1"/>
          </p:cNvSpPr>
          <p:nvPr/>
        </p:nvSpPr>
        <p:spPr>
          <a:xfrm>
            <a:off x="8267700" y="33147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7709FA-7D67-4ED6-B6BD-DD0871D6A387}"/>
              </a:ext>
            </a:extLst>
          </p:cNvPr>
          <p:cNvSpPr>
            <a:spLocks noGrp="1"/>
          </p:cNvSpPr>
          <p:nvPr/>
        </p:nvSpPr>
        <p:spPr>
          <a:xfrm>
            <a:off x="8705850" y="32575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용량이 비정상적으로 크지 않다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44F99E8-55B2-4691-ABEB-1DACF7F04C52}"/>
              </a:ext>
            </a:extLst>
          </p:cNvPr>
          <p:cNvSpPr>
            <a:spLocks noGrp="1"/>
          </p:cNvSpPr>
          <p:nvPr/>
        </p:nvSpPr>
        <p:spPr>
          <a:xfrm>
            <a:off x="8267700" y="390525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DDF6EC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A0A43D-7C61-4595-9B24-CB9B342B555A}"/>
              </a:ext>
            </a:extLst>
          </p:cNvPr>
          <p:cNvSpPr>
            <a:spLocks noGrp="1"/>
          </p:cNvSpPr>
          <p:nvPr/>
        </p:nvSpPr>
        <p:spPr>
          <a:xfrm>
            <a:off x="8267700" y="3905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338EB4-9620-4543-8837-0AF27650CDEA}"/>
              </a:ext>
            </a:extLst>
          </p:cNvPr>
          <p:cNvSpPr>
            <a:spLocks noGrp="1"/>
          </p:cNvSpPr>
          <p:nvPr/>
        </p:nvSpPr>
        <p:spPr>
          <a:xfrm>
            <a:off x="8705850" y="384810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media · generator · templates 포함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4AD679-FD65-4544-AEFE-A224E9B91A12}"/>
              </a:ext>
            </a:extLst>
          </p:cNvPr>
          <p:cNvSpPr>
            <a:spLocks noGrp="1"/>
          </p:cNvSpPr>
          <p:nvPr/>
        </p:nvSpPr>
        <p:spPr>
          <a:xfrm>
            <a:off x="8267700" y="4495800"/>
            <a:ext cx="266700" cy="266700"/>
          </a:xfrm>
          <a:prstGeom prst="roundRect">
            <a:avLst>
              <a:gd name="adj" fmla="val 42857"/>
            </a:avLst>
          </a:prstGeom>
          <a:solidFill>
            <a:srgbClr val="FFE3E3"/>
          </a:solidFill>
          <a:ln w="0">
            <a:noFill/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21F228E-128A-4A84-B8CB-888B82B7738C}"/>
              </a:ext>
            </a:extLst>
          </p:cNvPr>
          <p:cNvSpPr>
            <a:spLocks noGrp="1"/>
          </p:cNvSpPr>
          <p:nvPr/>
        </p:nvSpPr>
        <p:spPr>
          <a:xfrm>
            <a:off x="8267700" y="4495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9D50112-9A90-47C4-A92E-4D75929D8F2B}"/>
              </a:ext>
            </a:extLst>
          </p:cNvPr>
          <p:cNvSpPr>
            <a:spLocks noGrp="1"/>
          </p:cNvSpPr>
          <p:nvPr/>
        </p:nvSpPr>
        <p:spPr>
          <a:xfrm>
            <a:off x="8705850" y="44386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.env · PAT · API Key 미포함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ED9AFA-6174-4911-8EB2-82343D978DB2}"/>
              </a:ext>
            </a:extLst>
          </p:cNvPr>
          <p:cNvSpPr>
            <a:spLocks noGrp="1"/>
          </p:cNvSpPr>
          <p:nvPr/>
        </p:nvSpPr>
        <p:spPr>
          <a:xfrm>
            <a:off x="533400" y="57340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725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기존 VSIX를 재사용하지 말고 매번 다시 만든다</a:t>
            </a:r>
          </a:p>
        </p:txBody>
      </p:sp>
    </p:spTree>
    <p:extLst>
      <p:ext uri="{BB962C8B-B14F-4D97-AF65-F5344CB8AC3E}">
        <p14:creationId xmlns:p14="http://schemas.microsoft.com/office/powerpoint/2010/main" val="72518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52D3821-23B3-42E7-985C-0B0B03CF1E2A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게시 전에 일반 VS Code에 VSIX를 직접 설치한다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85D209-31C2-428D-A5C3-0A79614A7433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C15BD8-5691-4D74-8228-DC3D23850ABD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E926DB2-52A0-488F-84A3-F6021DD960FC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6858000" cy="1809750"/>
          </a:xfrm>
          <a:prstGeom prst="roundRect">
            <a:avLst>
              <a:gd name="adj" fmla="val 6316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450624D-632D-42C5-B300-841494682ABD}"/>
              </a:ext>
            </a:extLst>
          </p:cNvPr>
          <p:cNvSpPr>
            <a:spLocks noGrp="1"/>
          </p:cNvSpPr>
          <p:nvPr/>
        </p:nvSpPr>
        <p:spPr>
          <a:xfrm>
            <a:off x="495300" y="1428750"/>
            <a:ext cx="6858000" cy="400050"/>
          </a:xfrm>
          <a:prstGeom prst="roundRect">
            <a:avLst>
              <a:gd name="adj" fmla="val 28571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C82EAA-C451-4EAA-B1FA-D95A09A56CEE}"/>
              </a:ext>
            </a:extLst>
          </p:cNvPr>
          <p:cNvSpPr>
            <a:spLocks noGrp="1"/>
          </p:cNvSpPr>
          <p:nvPr/>
        </p:nvSpPr>
        <p:spPr>
          <a:xfrm>
            <a:off x="666750" y="1562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965F5F7-8970-4D98-9359-A36037A11A1E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8CFDC0-CCD9-4BA8-8057-D2E9A34889CA}"/>
              </a:ext>
            </a:extLst>
          </p:cNvPr>
          <p:cNvSpPr>
            <a:spLocks noGrp="1"/>
          </p:cNvSpPr>
          <p:nvPr/>
        </p:nvSpPr>
        <p:spPr>
          <a:xfrm>
            <a:off x="1123950" y="1562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C0E1B5-B763-4581-92A4-86232990573D}"/>
              </a:ext>
            </a:extLst>
          </p:cNvPr>
          <p:cNvSpPr>
            <a:spLocks noGrp="1"/>
          </p:cNvSpPr>
          <p:nvPr/>
        </p:nvSpPr>
        <p:spPr>
          <a:xfrm>
            <a:off x="1447800" y="149542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8FF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DF5516-85D1-4BEF-A1BF-8FCEE16F474A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code --install-extension `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FF0D2C-32BC-42BA-8B13-0F18CA7E5ED9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632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  .\quasar-tool-vscode-0.1.1.vsix --force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9554EB1-29A9-4CE9-B80B-C8549357ADB5}"/>
              </a:ext>
            </a:extLst>
          </p:cNvPr>
          <p:cNvSpPr>
            <a:spLocks noGrp="1"/>
          </p:cNvSpPr>
          <p:nvPr/>
        </p:nvSpPr>
        <p:spPr>
          <a:xfrm>
            <a:off x="7867650" y="1428750"/>
            <a:ext cx="3638550" cy="1809750"/>
          </a:xfrm>
          <a:prstGeom prst="roundRect">
            <a:avLst>
              <a:gd name="adj" fmla="val 6316"/>
            </a:avLst>
          </a:prstGeom>
          <a:solidFill>
            <a:srgbClr val="EAF5FF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A70157-4A81-4C7C-8B51-A405AF25FA26}"/>
              </a:ext>
            </a:extLst>
          </p:cNvPr>
          <p:cNvSpPr>
            <a:spLocks noGrp="1"/>
          </p:cNvSpPr>
          <p:nvPr/>
        </p:nvSpPr>
        <p:spPr>
          <a:xfrm>
            <a:off x="8134350" y="1619250"/>
            <a:ext cx="3105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071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B45"/>
                </a:solidFill>
                <a:latin typeface="Arial"/>
                <a:ea typeface="Arial"/>
                <a:cs typeface="Arial"/>
              </a:rPr>
              <a:t>VS Code 화면에서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F2DFE8-E3A2-4527-AE01-9A7FE3F017AB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Ctrl + Shift + X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70B778-4BA5-4E12-AE21-F1CBBDAE352D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우측 상단 …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A5B3943-B8F2-472E-A5A2-2FA23BE26DE7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Install from VSIX…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4B2A34-EA42-40BE-B4FB-5B3078A020B2}"/>
              </a:ext>
            </a:extLst>
          </p:cNvPr>
          <p:cNvSpPr>
            <a:spLocks noGrp="1"/>
          </p:cNvSpPr>
          <p:nvPr/>
        </p:nvSpPr>
        <p:spPr>
          <a:xfrm>
            <a:off x="8191500" y="28956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새 VSIX 선택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3C8335-BE4C-41E4-850C-2E44EA64D919}"/>
              </a:ext>
            </a:extLst>
          </p:cNvPr>
          <p:cNvSpPr>
            <a:spLocks noGrp="1"/>
          </p:cNvSpPr>
          <p:nvPr/>
        </p:nvSpPr>
        <p:spPr>
          <a:xfrm>
            <a:off x="514350" y="3676650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필수 기능 시험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8F7228-D148-4CC2-94D9-02E04CC50E26}"/>
              </a:ext>
            </a:extLst>
          </p:cNvPr>
          <p:cNvSpPr>
            <a:spLocks noGrp="1"/>
          </p:cNvSpPr>
          <p:nvPr/>
        </p:nvSpPr>
        <p:spPr>
          <a:xfrm>
            <a:off x="514350" y="42672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8EBB4B-B051-476F-802A-56B78201AAF1}"/>
              </a:ext>
            </a:extLst>
          </p:cNvPr>
          <p:cNvSpPr>
            <a:spLocks noGrp="1"/>
          </p:cNvSpPr>
          <p:nvPr/>
        </p:nvSpPr>
        <p:spPr>
          <a:xfrm>
            <a:off x="647700" y="42672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 .src/pages/*.json 열기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F6FA4C-7A83-4B51-ADE6-7B16F399C54B}"/>
              </a:ext>
            </a:extLst>
          </p:cNvPr>
          <p:cNvSpPr>
            <a:spLocks noGrp="1"/>
          </p:cNvSpPr>
          <p:nvPr/>
        </p:nvSpPr>
        <p:spPr>
          <a:xfrm>
            <a:off x="3257550" y="42672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1CD8581-3900-4CF5-A0DD-C21BE515AA9B}"/>
              </a:ext>
            </a:extLst>
          </p:cNvPr>
          <p:cNvSpPr>
            <a:spLocks noGrp="1"/>
          </p:cNvSpPr>
          <p:nvPr/>
        </p:nvSpPr>
        <p:spPr>
          <a:xfrm>
            <a:off x="3390900" y="42672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 Screen 렌더링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2AB8E78-87A2-47B7-A4D0-3620309EA7B4}"/>
              </a:ext>
            </a:extLst>
          </p:cNvPr>
          <p:cNvSpPr>
            <a:spLocks noGrp="1"/>
          </p:cNvSpPr>
          <p:nvPr/>
        </p:nvSpPr>
        <p:spPr>
          <a:xfrm>
            <a:off x="6000750" y="42672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6F6A187-B2AE-40BD-A933-BE9CB3BF5094}"/>
              </a:ext>
            </a:extLst>
          </p:cNvPr>
          <p:cNvSpPr>
            <a:spLocks noGrp="1"/>
          </p:cNvSpPr>
          <p:nvPr/>
        </p:nvSpPr>
        <p:spPr>
          <a:xfrm>
            <a:off x="6134100" y="42672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 Properties · Page Tree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BEF1629-E9E3-400F-9FDE-67329E40B06C}"/>
              </a:ext>
            </a:extLst>
          </p:cNvPr>
          <p:cNvSpPr>
            <a:spLocks noGrp="1"/>
          </p:cNvSpPr>
          <p:nvPr/>
        </p:nvSpPr>
        <p:spPr>
          <a:xfrm>
            <a:off x="8743950" y="42672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4B5D9C-0822-44ED-A05C-5B5245F233DB}"/>
              </a:ext>
            </a:extLst>
          </p:cNvPr>
          <p:cNvSpPr>
            <a:spLocks noGrp="1"/>
          </p:cNvSpPr>
          <p:nvPr/>
        </p:nvSpPr>
        <p:spPr>
          <a:xfrm>
            <a:off x="8877300" y="42672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4. Ctrl+S 저장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E5A7181-A1B0-4272-AABD-8724CD1EE41F}"/>
              </a:ext>
            </a:extLst>
          </p:cNvPr>
          <p:cNvSpPr>
            <a:spLocks noGrp="1"/>
          </p:cNvSpPr>
          <p:nvPr/>
        </p:nvSpPr>
        <p:spPr>
          <a:xfrm>
            <a:off x="514350" y="49911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F3C82D8-DD9C-4996-980E-E70335D675ED}"/>
              </a:ext>
            </a:extLst>
          </p:cNvPr>
          <p:cNvSpPr>
            <a:spLocks noGrp="1"/>
          </p:cNvSpPr>
          <p:nvPr/>
        </p:nvSpPr>
        <p:spPr>
          <a:xfrm>
            <a:off x="647700" y="49911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5. Vue 생성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4A5960F-F39A-4D80-9420-BB3563C8A37C}"/>
              </a:ext>
            </a:extLst>
          </p:cNvPr>
          <p:cNvSpPr>
            <a:spLocks noGrp="1"/>
          </p:cNvSpPr>
          <p:nvPr/>
        </p:nvSpPr>
        <p:spPr>
          <a:xfrm>
            <a:off x="3257550" y="49911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474395-4C42-457B-B796-95B7D4788254}"/>
              </a:ext>
            </a:extLst>
          </p:cNvPr>
          <p:cNvSpPr>
            <a:spLocks noGrp="1"/>
          </p:cNvSpPr>
          <p:nvPr/>
        </p:nvSpPr>
        <p:spPr>
          <a:xfrm>
            <a:off x="3390900" y="49911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6. Pinia 생성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EDC21F1-CE20-4FB0-81E9-E0342152A3B6}"/>
              </a:ext>
            </a:extLst>
          </p:cNvPr>
          <p:cNvSpPr>
            <a:spLocks noGrp="1"/>
          </p:cNvSpPr>
          <p:nvPr/>
        </p:nvSpPr>
        <p:spPr>
          <a:xfrm>
            <a:off x="6000750" y="49911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3F6F9"/>
          </a:solidFill>
          <a:ln w="0">
            <a:noFill/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3E3B24-9FF6-4A4E-B96E-48E287E75FA1}"/>
              </a:ext>
            </a:extLst>
          </p:cNvPr>
          <p:cNvSpPr>
            <a:spLocks noGrp="1"/>
          </p:cNvSpPr>
          <p:nvPr/>
        </p:nvSpPr>
        <p:spPr>
          <a:xfrm>
            <a:off x="6134100" y="49911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7. PPT 기능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4681F39-6C2A-4BCE-AA88-2ABE7FD4A03E}"/>
              </a:ext>
            </a:extLst>
          </p:cNvPr>
          <p:cNvSpPr>
            <a:spLocks noGrp="1"/>
          </p:cNvSpPr>
          <p:nvPr/>
        </p:nvSpPr>
        <p:spPr>
          <a:xfrm>
            <a:off x="8743950" y="4991100"/>
            <a:ext cx="2419350" cy="533400"/>
          </a:xfrm>
          <a:prstGeom prst="roundRect">
            <a:avLst>
              <a:gd name="adj" fmla="val 21429"/>
            </a:avLst>
          </a:prstGeom>
          <a:solidFill>
            <a:srgbClr val="FFF0F0"/>
          </a:solidFill>
          <a:ln w="0">
            <a:noFill/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6D493A-DB6C-4F45-B797-8AB11981136B}"/>
              </a:ext>
            </a:extLst>
          </p:cNvPr>
          <p:cNvSpPr>
            <a:spLocks noGrp="1"/>
          </p:cNvSpPr>
          <p:nvPr/>
        </p:nvSpPr>
        <p:spPr>
          <a:xfrm>
            <a:off x="8877300" y="49911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D84A4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4A4A"/>
                </a:solidFill>
                <a:latin typeface="Arial"/>
                <a:ea typeface="Arial"/>
                <a:cs typeface="Arial"/>
              </a:rPr>
              <a:t>8. 개발자 콘솔 오류</a:t>
            </a:r>
          </a:p>
        </p:txBody>
      </p:sp>
    </p:spTree>
    <p:extLst>
      <p:ext uri="{BB962C8B-B14F-4D97-AF65-F5344CB8AC3E}">
        <p14:creationId xmlns:p14="http://schemas.microsoft.com/office/powerpoint/2010/main" val="2105393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54E182-CB87-44B9-BBE8-34A7813FD491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게시 방식은 수동 업로드와 명령 게시 중 하나를 선택한다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8579956-D2A4-452F-8BE8-B622568E92B7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8533758-58D7-4D61-AF2D-310D0DDD47A1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99BEA63-867C-4637-A754-2D9AC2957FB4}"/>
              </a:ext>
            </a:extLst>
          </p:cNvPr>
          <p:cNvSpPr>
            <a:spLocks noGrp="1"/>
          </p:cNvSpPr>
          <p:nvPr/>
        </p:nvSpPr>
        <p:spPr>
          <a:xfrm>
            <a:off x="533400" y="1466850"/>
            <a:ext cx="5219700" cy="3848100"/>
          </a:xfrm>
          <a:prstGeom prst="roundRect">
            <a:avLst>
              <a:gd name="adj" fmla="val 2970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4C3434-AD5F-42D4-854D-2ACA66E8C05D}"/>
              </a:ext>
            </a:extLst>
          </p:cNvPr>
          <p:cNvSpPr>
            <a:spLocks noGrp="1"/>
          </p:cNvSpPr>
          <p:nvPr/>
        </p:nvSpPr>
        <p:spPr>
          <a:xfrm>
            <a:off x="6438900" y="1466850"/>
            <a:ext cx="5219700" cy="3848100"/>
          </a:xfrm>
          <a:prstGeom prst="roundRect">
            <a:avLst>
              <a:gd name="adj" fmla="val 2970"/>
            </a:avLst>
          </a:prstGeom>
          <a:solidFill>
            <a:srgbClr val="EAF5FF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14DE8C-1854-4D1B-B803-6D4A63BC4453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464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A. Marketplace 수동 업로드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D696B66-352E-4165-A385-0561428078B3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2CA394-614C-4F9B-8F63-49EF5F330CF9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95F399-8017-4701-907D-3B0378B8EE24}"/>
              </a:ext>
            </a:extLst>
          </p:cNvPr>
          <p:cNvSpPr>
            <a:spLocks noGrp="1"/>
          </p:cNvSpPr>
          <p:nvPr/>
        </p:nvSpPr>
        <p:spPr>
          <a:xfrm>
            <a:off x="1314450" y="24288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Publisher 관리 페이지 접속</a:t>
            </a:r>
            <a:r>
              <a:rPr lang="en-US"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altLang="ko-KR">
                <a:hlinkClick r:id="rId3"/>
              </a:rPr>
              <a:t>Extensions for Visual Studio family of products | Visual Studio Marketplace</a:t>
            </a:r>
            <a:r>
              <a:rPr lang="en-US" altLang="ko-KR"/>
              <a:t>)</a:t>
            </a:r>
            <a:endParaRPr sz="1425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E69F6B9-91B9-48A3-84B8-871A19FDA431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9E743E-5E29-4189-B6B6-8ED770391108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1BD3B2-6888-4074-B579-9D32FC66194D}"/>
              </a:ext>
            </a:extLst>
          </p:cNvPr>
          <p:cNvSpPr>
            <a:spLocks noGrp="1"/>
          </p:cNvSpPr>
          <p:nvPr/>
        </p:nvSpPr>
        <p:spPr>
          <a:xfrm>
            <a:off x="1314450" y="29432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ORUM 선택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DEB457-92AE-45E3-A266-C59877666B1E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FB04FD-33E5-42D7-A54E-146B6390EF07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5B90EA-E46F-454E-84CC-B3774FCE425F}"/>
              </a:ext>
            </a:extLst>
          </p:cNvPr>
          <p:cNvSpPr>
            <a:spLocks noGrp="1"/>
          </p:cNvSpPr>
          <p:nvPr/>
        </p:nvSpPr>
        <p:spPr>
          <a:xfrm>
            <a:off x="1314450" y="34575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기존 확장 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0D3983A-8032-479C-B5CA-1ACEA800BC4C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84F250-814D-4652-A813-DAA574073A13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52AF16-51F8-4717-B47B-C83C0D69B760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새 VSIX 업로드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D8B2E0-98D3-4832-9963-E82C6BC2FA84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304800" cy="304800"/>
          </a:xfrm>
          <a:prstGeom prst="roundRect">
            <a:avLst>
              <a:gd name="adj" fmla="val 37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AB8DA0-CA86-4BDD-95E3-263F8972F9AB}"/>
              </a:ext>
            </a:extLst>
          </p:cNvPr>
          <p:cNvSpPr>
            <a:spLocks noGrp="1"/>
          </p:cNvSpPr>
          <p:nvPr/>
        </p:nvSpPr>
        <p:spPr>
          <a:xfrm>
            <a:off x="838200" y="45529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3F39C5-F8E4-4A5A-A27A-523427222842}"/>
              </a:ext>
            </a:extLst>
          </p:cNvPr>
          <p:cNvSpPr>
            <a:spLocks noGrp="1"/>
          </p:cNvSpPr>
          <p:nvPr/>
        </p:nvSpPr>
        <p:spPr>
          <a:xfrm>
            <a:off x="1314450" y="44862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검증 완료 확인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DD1F4F-3382-49D7-BC23-BAABFD4D46AF}"/>
              </a:ext>
            </a:extLst>
          </p:cNvPr>
          <p:cNvSpPr>
            <a:spLocks noGrp="1"/>
          </p:cNvSpPr>
          <p:nvPr/>
        </p:nvSpPr>
        <p:spPr>
          <a:xfrm>
            <a:off x="6724650" y="1752600"/>
            <a:ext cx="4648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100" b="1">
                <a:solidFill>
                  <a:srgbClr val="071B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1B45"/>
                </a:solidFill>
                <a:latin typeface="Arial"/>
                <a:ea typeface="Arial"/>
                <a:cs typeface="Arial"/>
              </a:rPr>
              <a:t>B. vsce 명령 게시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A139B1C-621A-4985-9610-30B95D2ACAA2}"/>
              </a:ext>
            </a:extLst>
          </p:cNvPr>
          <p:cNvSpPr>
            <a:spLocks noGrp="1"/>
          </p:cNvSpPr>
          <p:nvPr/>
        </p:nvSpPr>
        <p:spPr>
          <a:xfrm>
            <a:off x="6724650" y="2457450"/>
            <a:ext cx="4648200" cy="1676400"/>
          </a:xfrm>
          <a:prstGeom prst="roundRect">
            <a:avLst>
              <a:gd name="adj" fmla="val 6818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88A5C84-E729-4DE2-B719-7672FA2E296F}"/>
              </a:ext>
            </a:extLst>
          </p:cNvPr>
          <p:cNvSpPr>
            <a:spLocks noGrp="1"/>
          </p:cNvSpPr>
          <p:nvPr/>
        </p:nvSpPr>
        <p:spPr>
          <a:xfrm>
            <a:off x="6724650" y="2457450"/>
            <a:ext cx="4648200" cy="400050"/>
          </a:xfrm>
          <a:prstGeom prst="roundRect">
            <a:avLst>
              <a:gd name="adj" fmla="val 28571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3E2D061-5075-4072-9ED9-18C627150113}"/>
              </a:ext>
            </a:extLst>
          </p:cNvPr>
          <p:cNvSpPr>
            <a:spLocks noGrp="1"/>
          </p:cNvSpPr>
          <p:nvPr/>
        </p:nvSpPr>
        <p:spPr>
          <a:xfrm>
            <a:off x="6896100" y="259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252B8F2-90CA-4E63-B2D4-C170DF9D8FD6}"/>
              </a:ext>
            </a:extLst>
          </p:cNvPr>
          <p:cNvSpPr>
            <a:spLocks noGrp="1"/>
          </p:cNvSpPr>
          <p:nvPr/>
        </p:nvSpPr>
        <p:spPr>
          <a:xfrm>
            <a:off x="7124700" y="259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CDCBA7E-DE4A-4ED1-8D31-4AF12A4F8B64}"/>
              </a:ext>
            </a:extLst>
          </p:cNvPr>
          <p:cNvSpPr>
            <a:spLocks noGrp="1"/>
          </p:cNvSpPr>
          <p:nvPr/>
        </p:nvSpPr>
        <p:spPr>
          <a:xfrm>
            <a:off x="7353300" y="2590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1EDD2F9-2E64-4597-AF76-B403ECFCCC12}"/>
              </a:ext>
            </a:extLst>
          </p:cNvPr>
          <p:cNvSpPr>
            <a:spLocks noGrp="1"/>
          </p:cNvSpPr>
          <p:nvPr/>
        </p:nvSpPr>
        <p:spPr>
          <a:xfrm>
            <a:off x="7677150" y="2524125"/>
            <a:ext cx="3505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8FF"/>
                </a:solidFill>
                <a:latin typeface="Arial"/>
                <a:ea typeface="Arial"/>
                <a:cs typeface="Arial"/>
              </a:rPr>
              <a:t>PowerShell · Publisher 인증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186075D-1C7E-4874-A468-77722EA20777}"/>
              </a:ext>
            </a:extLst>
          </p:cNvPr>
          <p:cNvSpPr>
            <a:spLocks noGrp="1"/>
          </p:cNvSpPr>
          <p:nvPr/>
        </p:nvSpPr>
        <p:spPr>
          <a:xfrm>
            <a:off x="6991350" y="300990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npx --yes @vscode/vsce login ORUM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EE18099-3F21-4914-8F6B-827F15890229}"/>
              </a:ext>
            </a:extLst>
          </p:cNvPr>
          <p:cNvSpPr>
            <a:spLocks noGrp="1"/>
          </p:cNvSpPr>
          <p:nvPr/>
        </p:nvSpPr>
        <p:spPr>
          <a:xfrm>
            <a:off x="6991350" y="340995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npx --yes @vscode/vsce publish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D8BEBC-6521-4BDC-BD0A-4ABD85222601}"/>
              </a:ext>
            </a:extLst>
          </p:cNvPr>
          <p:cNvSpPr>
            <a:spLocks noGrp="1"/>
          </p:cNvSpPr>
          <p:nvPr/>
        </p:nvSpPr>
        <p:spPr>
          <a:xfrm>
            <a:off x="990600" y="55626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처음·간헐 배포에 추천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07ABF8-E5B9-4D71-B7CF-807502263D9D}"/>
              </a:ext>
            </a:extLst>
          </p:cNvPr>
          <p:cNvSpPr>
            <a:spLocks noGrp="1"/>
          </p:cNvSpPr>
          <p:nvPr/>
        </p:nvSpPr>
        <p:spPr>
          <a:xfrm>
            <a:off x="6896100" y="5562600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반복 자동화에 적합</a:t>
            </a:r>
          </a:p>
        </p:txBody>
      </p:sp>
    </p:spTree>
    <p:extLst>
      <p:ext uri="{BB962C8B-B14F-4D97-AF65-F5344CB8AC3E}">
        <p14:creationId xmlns:p14="http://schemas.microsoft.com/office/powerpoint/2010/main" val="212671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EA6EEDB6-E513-49C5-BA7A-EAD8F2EA4B0D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게시 후 Marketplace와 새 설치 환경에서 다시 확인한다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0BA161-E895-4BD6-83B4-2CF77E1C21AF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446BA3-9233-47E2-B6E9-9E644E23DABE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4BDBE40-B459-4EBF-B86C-ACD58DE64DE9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2952750" cy="2705100"/>
          </a:xfrm>
          <a:prstGeom prst="roundRect">
            <a:avLst>
              <a:gd name="adj" fmla="val 4225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0B7C207-4431-400D-9A0A-2A474989D180}"/>
              </a:ext>
            </a:extLst>
          </p:cNvPr>
          <p:cNvSpPr>
            <a:spLocks noGrp="1"/>
          </p:cNvSpPr>
          <p:nvPr/>
        </p:nvSpPr>
        <p:spPr>
          <a:xfrm>
            <a:off x="1704975" y="196215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95CB33-2A35-4B6A-9462-4F844C6E5074}"/>
              </a:ext>
            </a:extLst>
          </p:cNvPr>
          <p:cNvSpPr>
            <a:spLocks noGrp="1"/>
          </p:cNvSpPr>
          <p:nvPr/>
        </p:nvSpPr>
        <p:spPr>
          <a:xfrm>
            <a:off x="1704975" y="1962150"/>
            <a:ext cx="95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484080E-0BBD-49DA-8485-4A42E65E4DB3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6626AE-2477-4B81-99F7-A39FB8170C8A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2457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버전 · README · 아이콘</a:t>
            </a:r>
          </a:p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게시 상태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4C75C78-6B51-45FD-B0A1-F6398E349CB5}"/>
              </a:ext>
            </a:extLst>
          </p:cNvPr>
          <p:cNvSpPr>
            <a:spLocks noGrp="1"/>
          </p:cNvSpPr>
          <p:nvPr/>
        </p:nvSpPr>
        <p:spPr>
          <a:xfrm>
            <a:off x="4152900" y="1695450"/>
            <a:ext cx="2952750" cy="2705100"/>
          </a:xfrm>
          <a:prstGeom prst="roundRect">
            <a:avLst>
              <a:gd name="adj" fmla="val 4225"/>
            </a:avLst>
          </a:prstGeom>
          <a:solidFill>
            <a:srgbClr val="EAF5FF"/>
          </a:solidFill>
          <a:ln w="0">
            <a:noFill/>
            <a:prstDash val="solid"/>
          </a:ln>
        </p:spPr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AA0031-A19D-4DC4-9BE1-D4DE95855EC5}"/>
              </a:ext>
            </a:extLst>
          </p:cNvPr>
          <p:cNvSpPr>
            <a:spLocks noGrp="1"/>
          </p:cNvSpPr>
          <p:nvPr/>
        </p:nvSpPr>
        <p:spPr>
          <a:xfrm>
            <a:off x="5153025" y="196215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370DD5-71BF-4C53-9EE4-E6C4C67A75D1}"/>
              </a:ext>
            </a:extLst>
          </p:cNvPr>
          <p:cNvSpPr>
            <a:spLocks noGrp="1"/>
          </p:cNvSpPr>
          <p:nvPr/>
        </p:nvSpPr>
        <p:spPr>
          <a:xfrm>
            <a:off x="5153025" y="1962150"/>
            <a:ext cx="95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BE3C76-F670-4A49-9D08-265F55AA887C}"/>
              </a:ext>
            </a:extLst>
          </p:cNvPr>
          <p:cNvSpPr>
            <a:spLocks noGrp="1"/>
          </p:cNvSpPr>
          <p:nvPr/>
        </p:nvSpPr>
        <p:spPr>
          <a:xfrm>
            <a:off x="4362450" y="31432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새로 설치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7229B6-CF14-4225-A5B9-13C9D04BBE5C}"/>
              </a:ext>
            </a:extLst>
          </p:cNvPr>
          <p:cNvSpPr>
            <a:spLocks noGrp="1"/>
          </p:cNvSpPr>
          <p:nvPr/>
        </p:nvSpPr>
        <p:spPr>
          <a:xfrm>
            <a:off x="4400550" y="3638550"/>
            <a:ext cx="2457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확장 ID로 강제 설치</a:t>
            </a:r>
          </a:p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일반 VS Code에서 실행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582FD6F-442F-4827-9404-20E82E58F7FF}"/>
              </a:ext>
            </a:extLst>
          </p:cNvPr>
          <p:cNvSpPr>
            <a:spLocks noGrp="1"/>
          </p:cNvSpPr>
          <p:nvPr/>
        </p:nvSpPr>
        <p:spPr>
          <a:xfrm>
            <a:off x="7600950" y="1695450"/>
            <a:ext cx="2952750" cy="2705100"/>
          </a:xfrm>
          <a:prstGeom prst="roundRect">
            <a:avLst>
              <a:gd name="adj" fmla="val 4225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FDF4B67-204E-4E84-BA4F-F1225BF24AF1}"/>
              </a:ext>
            </a:extLst>
          </p:cNvPr>
          <p:cNvSpPr>
            <a:spLocks noGrp="1"/>
          </p:cNvSpPr>
          <p:nvPr/>
        </p:nvSpPr>
        <p:spPr>
          <a:xfrm>
            <a:off x="8601075" y="1962150"/>
            <a:ext cx="952500" cy="952500"/>
          </a:xfrm>
          <a:prstGeom prst="roundRect">
            <a:avLst>
              <a:gd name="adj" fmla="val 12000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34EF38-F42C-4386-A5E7-C339C5B485D4}"/>
              </a:ext>
            </a:extLst>
          </p:cNvPr>
          <p:cNvSpPr>
            <a:spLocks noGrp="1"/>
          </p:cNvSpPr>
          <p:nvPr/>
        </p:nvSpPr>
        <p:spPr>
          <a:xfrm>
            <a:off x="8601075" y="1962150"/>
            <a:ext cx="95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028758-0593-4EDD-99D5-875B8E805B07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버전 확인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3685DD-69DE-4291-AC55-0A3A3B975AE0}"/>
              </a:ext>
            </a:extLst>
          </p:cNvPr>
          <p:cNvSpPr>
            <a:spLocks noGrp="1"/>
          </p:cNvSpPr>
          <p:nvPr/>
        </p:nvSpPr>
        <p:spPr>
          <a:xfrm>
            <a:off x="7848600" y="3638550"/>
            <a:ext cx="2457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설치 목록에서</a:t>
            </a:r>
          </a:p>
          <a:p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정확한 버전 조회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889B5CD-C6C9-4753-9862-A7C15CA35185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9144000" cy="1371600"/>
          </a:xfrm>
          <a:prstGeom prst="roundRect">
            <a:avLst>
              <a:gd name="adj" fmla="val 8333"/>
            </a:avLst>
          </a:prstGeom>
          <a:solidFill>
            <a:srgbClr val="071B45"/>
          </a:solidFill>
          <a:ln w="0">
            <a:noFill/>
            <a:prstDash val="solid"/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0BAD568-9693-4A29-8DDB-6DA817EBDF64}"/>
              </a:ext>
            </a:extLst>
          </p:cNvPr>
          <p:cNvSpPr>
            <a:spLocks noGrp="1"/>
          </p:cNvSpPr>
          <p:nvPr/>
        </p:nvSpPr>
        <p:spPr>
          <a:xfrm>
            <a:off x="1524000" y="4819650"/>
            <a:ext cx="9144000" cy="400050"/>
          </a:xfrm>
          <a:prstGeom prst="roundRect">
            <a:avLst>
              <a:gd name="adj" fmla="val 28571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5492F75-4796-48BA-87E6-9CF200776F50}"/>
              </a:ext>
            </a:extLst>
          </p:cNvPr>
          <p:cNvSpPr>
            <a:spLocks noGrp="1"/>
          </p:cNvSpPr>
          <p:nvPr/>
        </p:nvSpPr>
        <p:spPr>
          <a:xfrm>
            <a:off x="1695450" y="4953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80213BE-A717-45AC-B87A-A29952D5C92E}"/>
              </a:ext>
            </a:extLst>
          </p:cNvPr>
          <p:cNvSpPr>
            <a:spLocks noGrp="1"/>
          </p:cNvSpPr>
          <p:nvPr/>
        </p:nvSpPr>
        <p:spPr>
          <a:xfrm>
            <a:off x="1924050" y="4953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79A16"/>
          </a:solidFill>
          <a:ln w="0">
            <a:noFill/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967323D-860C-4528-B2F3-33F5FB26392C}"/>
              </a:ext>
            </a:extLst>
          </p:cNvPr>
          <p:cNvSpPr>
            <a:spLocks noGrp="1"/>
          </p:cNvSpPr>
          <p:nvPr/>
        </p:nvSpPr>
        <p:spPr>
          <a:xfrm>
            <a:off x="2152650" y="4953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7ACEC7-797D-4ADC-8155-6F3B8B0B89EC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8FF"/>
                </a:solidFill>
                <a:latin typeface="Arial"/>
                <a:ea typeface="Arial"/>
                <a:cs typeface="Arial"/>
              </a:rPr>
              <a:t>PowerShell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116B75-00C5-460B-8ED2-A96F6BC5FF72}"/>
              </a:ext>
            </a:extLst>
          </p:cNvPr>
          <p:cNvSpPr>
            <a:spLocks noGrp="1"/>
          </p:cNvSpPr>
          <p:nvPr/>
        </p:nvSpPr>
        <p:spPr>
          <a:xfrm>
            <a:off x="1790700" y="5372100"/>
            <a:ext cx="861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code --install-extension ORUM.quasar-tool-vscode --force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DFBA65-F11F-4F7E-AB63-9A7AA75370EE}"/>
              </a:ext>
            </a:extLst>
          </p:cNvPr>
          <p:cNvSpPr>
            <a:spLocks noGrp="1"/>
          </p:cNvSpPr>
          <p:nvPr/>
        </p:nvSpPr>
        <p:spPr>
          <a:xfrm>
            <a:off x="1790700" y="5772150"/>
            <a:ext cx="861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code --list-extensions --show-versions |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59095C-9334-48F1-B1BB-3494D24051F6}"/>
              </a:ext>
            </a:extLst>
          </p:cNvPr>
          <p:cNvSpPr>
            <a:spLocks noGrp="1"/>
          </p:cNvSpPr>
          <p:nvPr/>
        </p:nvSpPr>
        <p:spPr>
          <a:xfrm>
            <a:off x="1790700" y="6172200"/>
            <a:ext cx="861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F5FA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5FAFF"/>
                </a:solidFill>
                <a:latin typeface="Consolas"/>
                <a:ea typeface="Consolas"/>
                <a:cs typeface="Consolas"/>
              </a:rPr>
              <a:t>  Select-String "ORUM.quasar-tool-vscode"</a:t>
            </a:r>
          </a:p>
        </p:txBody>
      </p:sp>
    </p:spTree>
    <p:extLst>
      <p:ext uri="{BB962C8B-B14F-4D97-AF65-F5344CB8AC3E}">
        <p14:creationId xmlns:p14="http://schemas.microsoft.com/office/powerpoint/2010/main" val="686728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474D0C-F0A9-4253-BE7D-D2693747A838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오류 메시지는 원인별로 바로 대응한다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D19C3-4A92-4381-BBE3-E711FA954B2A}"/>
              </a:ext>
            </a:extLst>
          </p:cNvPr>
          <p:cNvSpPr>
            <a:spLocks noGrp="1"/>
          </p:cNvSpPr>
          <p:nvPr/>
        </p:nvSpPr>
        <p:spPr>
          <a:xfrm>
            <a:off x="11334750" y="61531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B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8C41DA-BD87-4E25-BFF9-09568495917D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11277600" cy="19050"/>
          </a:xfrm>
          <a:prstGeom prst="rect">
            <a:avLst/>
          </a:prstGeom>
          <a:solidFill>
            <a:srgbClr val="C8D0DA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204FF6-3E30-41EB-A1A0-39170B9C6045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메시지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2DD318-F810-4FC4-857E-E2CCF9F5A2A4}"/>
              </a:ext>
            </a:extLst>
          </p:cNvPr>
          <p:cNvSpPr>
            <a:spLocks noGrp="1"/>
          </p:cNvSpPr>
          <p:nvPr/>
        </p:nvSpPr>
        <p:spPr>
          <a:xfrm>
            <a:off x="4152900" y="13906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주요 원인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4D7DFD-228C-4F28-AAA3-985BCD831862}"/>
              </a:ext>
            </a:extLst>
          </p:cNvPr>
          <p:cNvSpPr>
            <a:spLocks noGrp="1"/>
          </p:cNvSpPr>
          <p:nvPr/>
        </p:nvSpPr>
        <p:spPr>
          <a:xfrm>
            <a:off x="7067550" y="13906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B7A"/>
                </a:solidFill>
                <a:latin typeface="Arial"/>
                <a:ea typeface="Arial"/>
                <a:cs typeface="Arial"/>
              </a:rPr>
              <a:t>바로 할 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67A270-D664-4A39-A22E-3D7AA4D67EB9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11049000" cy="552450"/>
          </a:xfrm>
          <a:prstGeom prst="rect">
            <a:avLst/>
          </a:prstGeom>
          <a:solidFill>
            <a:srgbClr val="EEF2F6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A083AE-08B2-45D9-8CC6-B02B0498DF95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84A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84A4A"/>
                </a:solidFill>
                <a:latin typeface="Consolas"/>
                <a:ea typeface="Consolas"/>
                <a:cs typeface="Consolas"/>
              </a:rPr>
              <a:t>Version already exists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200D1-94CC-4A73-B4DC-9E2F43AA5B96}"/>
              </a:ext>
            </a:extLst>
          </p:cNvPr>
          <p:cNvSpPr>
            <a:spLocks noGrp="1"/>
          </p:cNvSpPr>
          <p:nvPr/>
        </p:nvSpPr>
        <p:spPr>
          <a:xfrm>
            <a:off x="4152900" y="18478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버전 미증가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A53B16-1A79-4B44-9EF5-EF491F7C83EB}"/>
              </a:ext>
            </a:extLst>
          </p:cNvPr>
          <p:cNvSpPr>
            <a:spLocks noGrp="1"/>
          </p:cNvSpPr>
          <p:nvPr/>
        </p:nvSpPr>
        <p:spPr>
          <a:xfrm>
            <a:off x="7067550" y="18478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patch 버전 올리고 다시 패키징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FEBEE2-40EA-47CB-9730-265AB920A8C1}"/>
              </a:ext>
            </a:extLst>
          </p:cNvPr>
          <p:cNvSpPr>
            <a:spLocks noGrp="1"/>
          </p:cNvSpPr>
          <p:nvPr/>
        </p:nvSpPr>
        <p:spPr>
          <a:xfrm>
            <a:off x="495300" y="2495550"/>
            <a:ext cx="11049000" cy="55245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66B3E0-92D5-45A4-939C-9F17B00AD23C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D84A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84A4A"/>
                </a:solidFill>
                <a:latin typeface="Consolas"/>
                <a:ea typeface="Consolas"/>
                <a:cs typeface="Consolas"/>
              </a:rPr>
              <a:t>401 / 403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76F8FEB-D2E6-47D2-845D-D3F8B3144EC1}"/>
              </a:ext>
            </a:extLst>
          </p:cNvPr>
          <p:cNvSpPr>
            <a:spLocks noGrp="1"/>
          </p:cNvSpPr>
          <p:nvPr/>
        </p:nvSpPr>
        <p:spPr>
          <a:xfrm>
            <a:off x="4152900" y="24955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인증·권한 오류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87712E-89C1-4101-8036-66504E2DBA01}"/>
              </a:ext>
            </a:extLst>
          </p:cNvPr>
          <p:cNvSpPr>
            <a:spLocks noGrp="1"/>
          </p:cNvSpPr>
          <p:nvPr/>
        </p:nvSpPr>
        <p:spPr>
          <a:xfrm>
            <a:off x="7067550" y="24955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ORUM 권한과 토큰 범위 확인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8E6CC6C-6E70-464F-8D47-3A8F62EF0D2B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11049000" cy="552450"/>
          </a:xfrm>
          <a:prstGeom prst="rect">
            <a:avLst/>
          </a:prstGeom>
          <a:solidFill>
            <a:srgbClr val="EEF2F6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80F150-37CA-42FC-A07B-CD81D8377BE7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수정사항이 안 보임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1966E4-35F7-4F07-A0AC-67AEC164EAEC}"/>
              </a:ext>
            </a:extLst>
          </p:cNvPr>
          <p:cNvSpPr>
            <a:spLocks noGrp="1"/>
          </p:cNvSpPr>
          <p:nvPr/>
        </p:nvSpPr>
        <p:spPr>
          <a:xfrm>
            <a:off x="4152900" y="31432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예전 VSIX 업로드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DADBCF-DED4-4DB3-B95E-91B1E1D03D1A}"/>
              </a:ext>
            </a:extLst>
          </p:cNvPr>
          <p:cNvSpPr>
            <a:spLocks noGrp="1"/>
          </p:cNvSpPr>
          <p:nvPr/>
        </p:nvSpPr>
        <p:spPr>
          <a:xfrm>
            <a:off x="7067550" y="31432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새 버전 VSIX를 다시 생성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4B423C-2722-4841-9D42-482ED744A6EC}"/>
              </a:ext>
            </a:extLst>
          </p:cNvPr>
          <p:cNvSpPr>
            <a:spLocks noGrp="1"/>
          </p:cNvSpPr>
          <p:nvPr/>
        </p:nvSpPr>
        <p:spPr>
          <a:xfrm>
            <a:off x="495300" y="3790950"/>
            <a:ext cx="11049000" cy="55245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3894C7-CDD5-4CAC-B77C-0969FFA04B08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extension already exists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A0CFA04-8AD5-4C39-A7E0-5E96BFD90942}"/>
              </a:ext>
            </a:extLst>
          </p:cNvPr>
          <p:cNvSpPr>
            <a:spLocks noGrp="1"/>
          </p:cNvSpPr>
          <p:nvPr/>
        </p:nvSpPr>
        <p:spPr>
          <a:xfrm>
            <a:off x="4152900" y="37909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ID 불일치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0D7961-2C88-4E4A-9CF4-CC35A745B5C6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publisher와 name 원복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B95F12-F821-4369-A341-9AA28B80AD90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11049000" cy="552450"/>
          </a:xfrm>
          <a:prstGeom prst="rect">
            <a:avLst/>
          </a:prstGeom>
          <a:solidFill>
            <a:srgbClr val="EEF2F6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91B3AD-B646-4854-B56D-F0AA85F039EF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패키지가 너무 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6493F6F-A95D-47BE-A6CE-DDA63BF9C945}"/>
              </a:ext>
            </a:extLst>
          </p:cNvPr>
          <p:cNvSpPr>
            <a:spLocks noGrp="1"/>
          </p:cNvSpPr>
          <p:nvPr/>
        </p:nvSpPr>
        <p:spPr>
          <a:xfrm>
            <a:off x="4152900" y="44386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불필요 파일 포함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32D82C-5517-44CD-92C3-4A3323BC3EE6}"/>
              </a:ext>
            </a:extLst>
          </p:cNvPr>
          <p:cNvSpPr>
            <a:spLocks noGrp="1"/>
          </p:cNvSpPr>
          <p:nvPr/>
        </p:nvSpPr>
        <p:spPr>
          <a:xfrm>
            <a:off x="7067550" y="44386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files와 의존성 목록 점검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B10271-7620-4F5B-8903-B936D0931329}"/>
              </a:ext>
            </a:extLst>
          </p:cNvPr>
          <p:cNvSpPr>
            <a:spLocks noGrp="1"/>
          </p:cNvSpPr>
          <p:nvPr/>
        </p:nvSpPr>
        <p:spPr>
          <a:xfrm>
            <a:off x="495300" y="5086350"/>
            <a:ext cx="11049000" cy="552450"/>
          </a:xfrm>
          <a:prstGeom prst="rect">
            <a:avLst/>
          </a:prstGeom>
          <a:solidFill>
            <a:srgbClr val="F8FAFC"/>
          </a:solidFill>
          <a:ln w="0">
            <a:noFill/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3FC38F-B539-41BF-9556-29180FE711FD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이미지 오류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051BFA4-FF82-4BB4-B608-169202B7C26D}"/>
              </a:ext>
            </a:extLst>
          </p:cNvPr>
          <p:cNvSpPr>
            <a:spLocks noGrp="1"/>
          </p:cNvSpPr>
          <p:nvPr/>
        </p:nvSpPr>
        <p:spPr>
          <a:xfrm>
            <a:off x="4152900" y="5086350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형식·URL 문제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6084D2B-529E-4A7B-A033-A01A1710ED11}"/>
              </a:ext>
            </a:extLst>
          </p:cNvPr>
          <p:cNvSpPr>
            <a:spLocks noGrp="1"/>
          </p:cNvSpPr>
          <p:nvPr/>
        </p:nvSpPr>
        <p:spPr>
          <a:xfrm>
            <a:off x="7067550" y="50863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PNG 아이콘과 HTTPS 이미지 사용</a:t>
            </a:r>
          </a:p>
        </p:txBody>
      </p:sp>
    </p:spTree>
    <p:extLst>
      <p:ext uri="{BB962C8B-B14F-4D97-AF65-F5344CB8AC3E}">
        <p14:creationId xmlns:p14="http://schemas.microsoft.com/office/powerpoint/2010/main" val="321254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8F7720-C56E-4DF1-B102-3D269E71E376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885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한 장으로 끝내는 반복 배포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0AD6E7-F99F-4D64-AE87-AD28560C0C3C}"/>
              </a:ext>
            </a:extLst>
          </p:cNvPr>
          <p:cNvSpPr>
            <a:spLocks noGrp="1"/>
          </p:cNvSpPr>
          <p:nvPr/>
        </p:nvSpPr>
        <p:spPr>
          <a:xfrm>
            <a:off x="9525000" y="4381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18C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8FF"/>
                </a:solidFill>
                <a:latin typeface="Arial"/>
                <a:ea typeface="Arial"/>
                <a:cs typeface="Arial"/>
              </a:rPr>
              <a:t>SAVE THIS SLIDE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946A0A7-2B91-4BAF-8F46-B9AABD76C3D5}"/>
              </a:ext>
            </a:extLst>
          </p:cNvPr>
          <p:cNvSpPr>
            <a:spLocks noGrp="1"/>
          </p:cNvSpPr>
          <p:nvPr/>
        </p:nvSpPr>
        <p:spPr>
          <a:xfrm>
            <a:off x="533400" y="12382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463DFC-AB15-44CE-9720-199F0C32C557}"/>
              </a:ext>
            </a:extLst>
          </p:cNvPr>
          <p:cNvSpPr>
            <a:spLocks noGrp="1"/>
          </p:cNvSpPr>
          <p:nvPr/>
        </p:nvSpPr>
        <p:spPr>
          <a:xfrm>
            <a:off x="533400" y="12382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22ACDB-A1FA-45BF-9DDD-7E3ADEE4FECD}"/>
              </a:ext>
            </a:extLst>
          </p:cNvPr>
          <p:cNvSpPr>
            <a:spLocks noGrp="1"/>
          </p:cNvSpPr>
          <p:nvPr/>
        </p:nvSpPr>
        <p:spPr>
          <a:xfrm>
            <a:off x="1238250" y="1181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cd "D:\01 PROJECTSRC\codex\quasar_tool\vscode-extension"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F54CB6F-CAE1-4663-AD6A-AC1C4C81A92C}"/>
              </a:ext>
            </a:extLst>
          </p:cNvPr>
          <p:cNvSpPr>
            <a:spLocks noGrp="1"/>
          </p:cNvSpPr>
          <p:nvPr/>
        </p:nvSpPr>
        <p:spPr>
          <a:xfrm>
            <a:off x="533400" y="19240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548676-2238-4E21-810C-BBB2949D41E2}"/>
              </a:ext>
            </a:extLst>
          </p:cNvPr>
          <p:cNvSpPr>
            <a:spLocks noGrp="1"/>
          </p:cNvSpPr>
          <p:nvPr/>
        </p:nvSpPr>
        <p:spPr>
          <a:xfrm>
            <a:off x="533400" y="1924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00F742-0ED9-4987-88AF-88E09B7B966F}"/>
              </a:ext>
            </a:extLst>
          </p:cNvPr>
          <p:cNvSpPr>
            <a:spLocks noGrp="1"/>
          </p:cNvSpPr>
          <p:nvPr/>
        </p:nvSpPr>
        <p:spPr>
          <a:xfrm>
            <a:off x="1238250" y="18669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npm version patch --no-git-tag-version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E34458-B0B2-4FD5-B2A1-26126DA7EBDE}"/>
              </a:ext>
            </a:extLst>
          </p:cNvPr>
          <p:cNvSpPr>
            <a:spLocks noGrp="1"/>
          </p:cNvSpPr>
          <p:nvPr/>
        </p:nvSpPr>
        <p:spPr>
          <a:xfrm>
            <a:off x="533400" y="26098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A24411-FB54-4E3D-8FB0-1F3E1998C984}"/>
              </a:ext>
            </a:extLst>
          </p:cNvPr>
          <p:cNvSpPr>
            <a:spLocks noGrp="1"/>
          </p:cNvSpPr>
          <p:nvPr/>
        </p:nvSpPr>
        <p:spPr>
          <a:xfrm>
            <a:off x="533400" y="26098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602FE1-C4D3-4771-8D1C-D38165C9BEAA}"/>
              </a:ext>
            </a:extLst>
          </p:cNvPr>
          <p:cNvSpPr>
            <a:spLocks noGrp="1"/>
          </p:cNvSpPr>
          <p:nvPr/>
        </p:nvSpPr>
        <p:spPr>
          <a:xfrm>
            <a:off x="1238250" y="25527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npm ci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1470040-F418-4E88-9B3D-285502DF14A7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C97381-1B41-40F5-B7AD-9893CAC2D1F0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22E822-2208-484F-A397-66F452ED5B8D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npx --yes @vscode/vsce package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D003EF5-9A07-4E5C-A0F3-578955D25C64}"/>
              </a:ext>
            </a:extLst>
          </p:cNvPr>
          <p:cNvSpPr>
            <a:spLocks noGrp="1"/>
          </p:cNvSpPr>
          <p:nvPr/>
        </p:nvSpPr>
        <p:spPr>
          <a:xfrm>
            <a:off x="533400" y="39814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2F80ED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4441CA5-4881-48E5-900C-98608BBC7BBD}"/>
              </a:ext>
            </a:extLst>
          </p:cNvPr>
          <p:cNvSpPr>
            <a:spLocks noGrp="1"/>
          </p:cNvSpPr>
          <p:nvPr/>
        </p:nvSpPr>
        <p:spPr>
          <a:xfrm>
            <a:off x="533400" y="39814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076C27-3D4C-45B5-8B70-4F9ED06CEBEC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code --install-extension .\quasar-tool-vscode-새버전.vsix --force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48780ED-733F-4658-8ACE-FC7A0F43AFFB}"/>
              </a:ext>
            </a:extLst>
          </p:cNvPr>
          <p:cNvSpPr>
            <a:spLocks noGrp="1"/>
          </p:cNvSpPr>
          <p:nvPr/>
        </p:nvSpPr>
        <p:spPr>
          <a:xfrm>
            <a:off x="533400" y="466725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17A673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5167D8-585C-402B-ABCE-FDF2D7422715}"/>
              </a:ext>
            </a:extLst>
          </p:cNvPr>
          <p:cNvSpPr>
            <a:spLocks noGrp="1"/>
          </p:cNvSpPr>
          <p:nvPr/>
        </p:nvSpPr>
        <p:spPr>
          <a:xfrm>
            <a:off x="533400" y="46672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EAFD04-0CA5-4877-92F0-4D23F8C8934C}"/>
              </a:ext>
            </a:extLst>
          </p:cNvPr>
          <p:cNvSpPr>
            <a:spLocks noGrp="1"/>
          </p:cNvSpPr>
          <p:nvPr/>
        </p:nvSpPr>
        <p:spPr>
          <a:xfrm>
            <a:off x="1238250" y="4610100"/>
            <a:ext cx="1036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npx --yes @vscode/vsce publish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42459A2-8DFF-48BF-9DEB-495BF09D48DF}"/>
              </a:ext>
            </a:extLst>
          </p:cNvPr>
          <p:cNvSpPr>
            <a:spLocks noGrp="1"/>
          </p:cNvSpPr>
          <p:nvPr/>
        </p:nvSpPr>
        <p:spPr>
          <a:xfrm>
            <a:off x="533400" y="5524500"/>
            <a:ext cx="11087100" cy="781050"/>
          </a:xfrm>
          <a:prstGeom prst="roundRect">
            <a:avLst>
              <a:gd name="adj" fmla="val 14634"/>
            </a:avLst>
          </a:prstGeom>
          <a:solidFill>
            <a:srgbClr val="0B2A60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268168-9461-4DE1-807D-CF6EB2DCBE00}"/>
              </a:ext>
            </a:extLst>
          </p:cNvPr>
          <p:cNvSpPr>
            <a:spLocks noGrp="1"/>
          </p:cNvSpPr>
          <p:nvPr/>
        </p:nvSpPr>
        <p:spPr>
          <a:xfrm>
            <a:off x="781050" y="5524500"/>
            <a:ext cx="1059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8C8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C8FF"/>
                </a:solidFill>
                <a:latin typeface="Arial"/>
                <a:ea typeface="Arial"/>
                <a:cs typeface="Arial"/>
              </a:rPr>
              <a:t>CHANGELOG = package.json 버전 = VSIX 파일명 = Marketplace 게시 버전</a:t>
            </a:r>
          </a:p>
        </p:txBody>
      </p:sp>
    </p:spTree>
    <p:extLst>
      <p:ext uri="{BB962C8B-B14F-4D97-AF65-F5344CB8AC3E}">
        <p14:creationId xmlns:p14="http://schemas.microsoft.com/office/powerpoint/2010/main" val="7972964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1589</Words>
  <Application>Microsoft Office PowerPoint</Application>
  <DocSecurity>0</DocSecurity>
  <PresentationFormat>와이드스크린</PresentationFormat>
  <Paragraphs>253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moonchel kang</cp:lastModifiedBy>
  <cp:revision>2</cp:revision>
  <dcterms:created xsi:type="dcterms:W3CDTF">2026-08-01T00:43:17Z</dcterms:created>
  <dcterms:modified xsi:type="dcterms:W3CDTF">2026-08-01T00:55:36Z</dcterms:modified>
</cp:coreProperties>
</file>